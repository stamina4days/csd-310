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1" r:id="rId6"/>
    <p:sldId id="268" r:id="rId7"/>
    <p:sldId id="260" r:id="rId8"/>
    <p:sldId id="262" r:id="rId9"/>
    <p:sldId id="267" r:id="rId10"/>
    <p:sldId id="263" r:id="rId11"/>
    <p:sldId id="264" r:id="rId12"/>
    <p:sldId id="265"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012" autoAdjust="0"/>
    <p:restoredTop sz="79661" autoAdjust="0"/>
  </p:normalViewPr>
  <p:slideViewPr>
    <p:cSldViewPr snapToGrid="0" snapToObjects="1">
      <p:cViewPr>
        <p:scale>
          <a:sx n="75" d="100"/>
          <a:sy n="75" d="100"/>
        </p:scale>
        <p:origin x="993" y="-16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69C94A-AD01-41F4-8156-42B948DEDA4E}" type="datetimeFigureOut">
              <a:rPr lang="en-US" smtClean="0"/>
              <a:t>10/10/2026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3C50DA-55FA-42B2-A67F-3D6B1ACD8C87}" type="slidenum">
              <a:rPr lang="en-US" smtClean="0"/>
              <a:t>‹#›</a:t>
            </a:fld>
            <a:endParaRPr lang="en-US"/>
          </a:p>
        </p:txBody>
      </p:sp>
    </p:spTree>
    <p:extLst>
      <p:ext uri="{BB962C8B-B14F-4D97-AF65-F5344CB8AC3E}">
        <p14:creationId xmlns:p14="http://schemas.microsoft.com/office/powerpoint/2010/main" val="1666290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Hello everyone, and welcome to our finalized presentation for </a:t>
            </a:r>
            <a:r>
              <a:rPr lang="en-US" sz="1200" b="0" i="0" u="none" dirty="0">
                <a:solidFill>
                  <a:srgbClr val="4C0519"/>
                </a:solidFill>
                <a:latin typeface="Arial" panose="020B0604020202020204" pitchFamily="34" charset="0"/>
                <a:cs typeface="Arial" panose="020B0604020202020204" pitchFamily="34" charset="0"/>
              </a:rPr>
              <a:t>Bacchus Winery</a:t>
            </a:r>
            <a:r>
              <a:rPr lang="en-US" dirty="0">
                <a:latin typeface="Arial" panose="020B0604020202020204" pitchFamily="34" charset="0"/>
                <a:cs typeface="Arial" panose="020B0604020202020204" pitchFamily="34" charset="0"/>
              </a:rPr>
              <a:t>. We are Group C, which includes myself, Nicholas, along with my colleagues Neosha and Prince. Today, we are going to walk you through our comprehensive database solution for the Bacchus Winery case study. Over the past few weeks, our team has worked collaboratively to design, build, and test a robust relational database tailored specifically to the operational needs of a growing winery. We will be taking you step-by-step through our journey: from our initial understanding of Bacchus Winery's core business bottlenecks, through our strategic assumptions, all the way to our finalized Entity-Relationship Diagram and the automated Python reporting scripts we developed. Let’s go ahead and dive right into the case study to understand exactly what problem we were tasked with solving.</a:t>
            </a:r>
          </a:p>
        </p:txBody>
      </p:sp>
      <p:sp>
        <p:nvSpPr>
          <p:cNvPr id="4" name="Slide Number Placeholder 3"/>
          <p:cNvSpPr>
            <a:spLocks noGrp="1"/>
          </p:cNvSpPr>
          <p:nvPr>
            <p:ph type="sldNum" sz="quarter" idx="5"/>
          </p:nvPr>
        </p:nvSpPr>
        <p:spPr/>
        <p:txBody>
          <a:bodyPr/>
          <a:lstStyle/>
          <a:p>
            <a:fld id="{523C50DA-55FA-42B2-A67F-3D6B1ACD8C87}" type="slidenum">
              <a:rPr lang="en-US" smtClean="0"/>
              <a:t>1</a:t>
            </a:fld>
            <a:endParaRPr lang="en-US"/>
          </a:p>
        </p:txBody>
      </p:sp>
    </p:spTree>
    <p:extLst>
      <p:ext uri="{BB962C8B-B14F-4D97-AF65-F5344CB8AC3E}">
        <p14:creationId xmlns:p14="http://schemas.microsoft.com/office/powerpoint/2010/main" val="2125986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anose="020B0604020202020204" pitchFamily="34" charset="0"/>
                <a:cs typeface="Arial" panose="020B0604020202020204" pitchFamily="34" charset="0"/>
              </a:rPr>
              <a:t>To set the stage, let's briefly review the core problem Bacchus Winery is facing. Bacchus is a successful, expanding vineyard, but their growth has completely outpaced their data management capabilities. Currently, they are relying on fragmented, manual tracking systems that make it incredibly difficult for management to get a clear picture of their day-to-day operations. Their primary call to action for our team was to eliminate these data silos and design a centralized, relational database system. Specifically, they needed a way to accurately track their supply chain, monitor distribution and sales, and manage their internal employee labor hours across different departments. Without a unified system, Bacchus cannot make informed business decisions regarding purchasing, distribution, or staffing. Our goal was to step in as database consultants, analyze their specific workflow requirements, and build a streamlined infrastructure that not only stores their data securely but also allows them to easily pull actionable business intelligence whenever they need it.</a:t>
            </a:r>
          </a:p>
        </p:txBody>
      </p:sp>
      <p:sp>
        <p:nvSpPr>
          <p:cNvPr id="4" name="Slide Number Placeholder 3"/>
          <p:cNvSpPr>
            <a:spLocks noGrp="1"/>
          </p:cNvSpPr>
          <p:nvPr>
            <p:ph type="sldNum" sz="quarter" idx="5"/>
          </p:nvPr>
        </p:nvSpPr>
        <p:spPr/>
        <p:txBody>
          <a:bodyPr/>
          <a:lstStyle/>
          <a:p>
            <a:fld id="{523C50DA-55FA-42B2-A67F-3D6B1ACD8C87}" type="slidenum">
              <a:rPr lang="en-US" smtClean="0"/>
              <a:t>2</a:t>
            </a:fld>
            <a:endParaRPr lang="en-US"/>
          </a:p>
        </p:txBody>
      </p:sp>
    </p:spTree>
    <p:extLst>
      <p:ext uri="{BB962C8B-B14F-4D97-AF65-F5344CB8AC3E}">
        <p14:creationId xmlns:p14="http://schemas.microsoft.com/office/powerpoint/2010/main" val="1656963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anose="020B0604020202020204" pitchFamily="34" charset="0"/>
                <a:cs typeface="Arial" panose="020B0604020202020204" pitchFamily="34" charset="0"/>
              </a:rPr>
              <a:t>Before we could start drawing tables and relationships, we had to establish a few guiding assumptions about how Bacchus Winery operates. These assumptions heavily informed our design decisions. First, we assumed that supply orders and deliveries are tracked on a per-order basis, meaning a single supplier could have multiple pending or completed orders, and we needed to measure the gap between expected and actual delivery dates to track reliability. Second, regarding distribution, we assumed distributors handle shipments of various wines in cases, so our database needed to link specific shipment items and case quantities to calculate distribution volume accurately. Third, for employee tracking, we assumed that labor is measured in quarterly timesheets, which allowed us to aggregate hours by department and quarter. Finally, from a technical perspective, we designed the Python reporting script assuming a standardized local database environment with secure password prompts for database connections to ensure smooth execution among our development team.</a:t>
            </a:r>
          </a:p>
        </p:txBody>
      </p:sp>
      <p:sp>
        <p:nvSpPr>
          <p:cNvPr id="4" name="Slide Number Placeholder 3"/>
          <p:cNvSpPr>
            <a:spLocks noGrp="1"/>
          </p:cNvSpPr>
          <p:nvPr>
            <p:ph type="sldNum" sz="quarter" idx="5"/>
          </p:nvPr>
        </p:nvSpPr>
        <p:spPr/>
        <p:txBody>
          <a:bodyPr/>
          <a:lstStyle/>
          <a:p>
            <a:fld id="{523C50DA-55FA-42B2-A67F-3D6B1ACD8C87}" type="slidenum">
              <a:rPr lang="en-US" smtClean="0"/>
              <a:t>3</a:t>
            </a:fld>
            <a:endParaRPr lang="en-US"/>
          </a:p>
        </p:txBody>
      </p:sp>
    </p:spTree>
    <p:extLst>
      <p:ext uri="{BB962C8B-B14F-4D97-AF65-F5344CB8AC3E}">
        <p14:creationId xmlns:p14="http://schemas.microsoft.com/office/powerpoint/2010/main" val="2590079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anose="020B0604020202020204" pitchFamily="34" charset="0"/>
                <a:cs typeface="Arial" panose="020B0604020202020204" pitchFamily="34" charset="0"/>
              </a:rPr>
              <a:t>Here you can see our finalized Entity-Relationship Diagram, which serves as the structural blueprint for our entire solution. Neosha spearheaded the initial schema design, where our process began by identifying core entities, including Suppliers, Distributors, Employees, Wines, and Orders. We established primary and foreign key relationships to link these tables logically, translating the visual diagram into actual MySQL data definition language. Based on feedback during the peer review phase, we iteratively refined this model to achieve strict Third Normal Form (3NF) compliance by decoupling department attributes from the Employees table into a dedicated Departments lookup table. We also standardized relationship notation across both subsystems so foreign keys point directly to parent primary keys. As noted below the diagram, Wines and Supplies function as shared bridge entities that connect procurement, production, and distribution workflows seamlessly. This solid relational foundation was absolutely critical, allowing us to run complex management reports efficiently without risking data duplication or anomaly errors.</a:t>
            </a:r>
          </a:p>
        </p:txBody>
      </p:sp>
      <p:sp>
        <p:nvSpPr>
          <p:cNvPr id="4" name="Slide Number Placeholder 3"/>
          <p:cNvSpPr>
            <a:spLocks noGrp="1"/>
          </p:cNvSpPr>
          <p:nvPr>
            <p:ph type="sldNum" sz="quarter" idx="5"/>
          </p:nvPr>
        </p:nvSpPr>
        <p:spPr/>
        <p:txBody>
          <a:bodyPr/>
          <a:lstStyle/>
          <a:p>
            <a:fld id="{523C50DA-55FA-42B2-A67F-3D6B1ACD8C87}" type="slidenum">
              <a:rPr lang="en-US" smtClean="0"/>
              <a:t>4</a:t>
            </a:fld>
            <a:endParaRPr lang="en-US"/>
          </a:p>
        </p:txBody>
      </p:sp>
    </p:spTree>
    <p:extLst>
      <p:ext uri="{BB962C8B-B14F-4D97-AF65-F5344CB8AC3E}">
        <p14:creationId xmlns:p14="http://schemas.microsoft.com/office/powerpoint/2010/main" val="1680160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anose="020B0604020202020204" pitchFamily="34" charset="0"/>
                <a:cs typeface="Arial" panose="020B0604020202020204" pitchFamily="34" charset="0"/>
              </a:rPr>
              <a:t>For our first management report, we tackled supply chain reliability by evaluating vendor fulfillment performance. The query calculates delivery variance across our </a:t>
            </a:r>
            <a:r>
              <a:rPr lang="en-US" sz="1200" kern="1200" dirty="0" err="1">
                <a:solidFill>
                  <a:schemeClr val="tx1"/>
                </a:solidFill>
                <a:latin typeface="Arial" panose="020B0604020202020204" pitchFamily="34" charset="0"/>
                <a:ea typeface="+mn-ea"/>
                <a:cs typeface="Arial" panose="020B0604020202020204" pitchFamily="34" charset="0"/>
              </a:rPr>
              <a:t>supply_orders</a:t>
            </a:r>
            <a:r>
              <a:rPr lang="en-US" dirty="0">
                <a:latin typeface="Arial" panose="020B0604020202020204" pitchFamily="34" charset="0"/>
                <a:cs typeface="Arial" panose="020B0604020202020204" pitchFamily="34" charset="0"/>
              </a:rPr>
              <a:t> table, translating dates into clear status indicators. As shown in the terminal output, we can immediately identify specific performance trends: Oak Barrel Co. logged both an on-time delivery and a five-day delay on order 104, Cork &amp; Closure arrived a day early, and Glass &amp; Bottle Inc. experienced a three-day delay. This gives leadership the exact visibility needed to monitor vendor compliance and tighten supply chain bottlenecks before they impact our production lines.</a:t>
            </a:r>
          </a:p>
        </p:txBody>
      </p:sp>
      <p:sp>
        <p:nvSpPr>
          <p:cNvPr id="4" name="Slide Number Placeholder 3"/>
          <p:cNvSpPr>
            <a:spLocks noGrp="1"/>
          </p:cNvSpPr>
          <p:nvPr>
            <p:ph type="sldNum" sz="quarter" idx="5"/>
          </p:nvPr>
        </p:nvSpPr>
        <p:spPr/>
        <p:txBody>
          <a:bodyPr/>
          <a:lstStyle/>
          <a:p>
            <a:fld id="{523C50DA-55FA-42B2-A67F-3D6B1ACD8C87}" type="slidenum">
              <a:rPr lang="en-US" smtClean="0"/>
              <a:t>5</a:t>
            </a:fld>
            <a:endParaRPr lang="en-US"/>
          </a:p>
        </p:txBody>
      </p:sp>
    </p:spTree>
    <p:extLst>
      <p:ext uri="{BB962C8B-B14F-4D97-AF65-F5344CB8AC3E}">
        <p14:creationId xmlns:p14="http://schemas.microsoft.com/office/powerpoint/2010/main" val="2347470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directly address peer review feedback, we translated our SQL terminal query into an intuitive visual metric breakdown for leadership. Taking the raw data from Report 1, where only half of our orders arrived schedule-compliant to result in that 50% on-time delivery rate, this visual bar chart instantly isolates vendor reliability risks. Oak Barrel Company’s 5-day delay on order 104 and Glass &amp; Bottle’s 3-day delay stand out immediately in red and orange, while Cork &amp; Closure’s early arrival and Oak Barrel’s on-time order show optimal performance in blue and green. Presenting fulfillment variance visually allows management to identify supply chain bottlenecks in seconds, giving supply managers clear, undeniable data for upcoming vendor contract negotiations.</a:t>
            </a:r>
          </a:p>
        </p:txBody>
      </p:sp>
      <p:sp>
        <p:nvSpPr>
          <p:cNvPr id="4" name="Slide Number Placeholder 3"/>
          <p:cNvSpPr>
            <a:spLocks noGrp="1"/>
          </p:cNvSpPr>
          <p:nvPr>
            <p:ph type="sldNum" sz="quarter" idx="5"/>
          </p:nvPr>
        </p:nvSpPr>
        <p:spPr/>
        <p:txBody>
          <a:bodyPr/>
          <a:lstStyle/>
          <a:p>
            <a:fld id="{523C50DA-55FA-42B2-A67F-3D6B1ACD8C87}" type="slidenum">
              <a:rPr lang="en-US" smtClean="0"/>
              <a:t>6</a:t>
            </a:fld>
            <a:endParaRPr lang="en-US"/>
          </a:p>
        </p:txBody>
      </p:sp>
    </p:spTree>
    <p:extLst>
      <p:ext uri="{BB962C8B-B14F-4D97-AF65-F5344CB8AC3E}">
        <p14:creationId xmlns:p14="http://schemas.microsoft.com/office/powerpoint/2010/main" val="87780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anose="020B0604020202020204" pitchFamily="34" charset="0"/>
                <a:cs typeface="Arial" panose="020B0604020202020204" pitchFamily="34" charset="0"/>
              </a:rPr>
              <a:t>Moving to our second management report, we shift focus from supply chain logistics to outward-facing sales and distribution. To help Bacchus monitor order status and case volume, our Python script executes multi-table JOINs connecting distributors, orders, and product lines. As shown in the terminal output, the query provides itemized visibility into each order: it captures completed deliveries like 150 cases of Valley Chardonnay for Midwest Wine &amp; Spirits and 200 cases of Bacchus Reserve Cabernet for Apex Beverage Distributors, while displaying a clean dash for unfulfilled orders like the 300 cases of Estate Merlot still marked as pending. Prince synthesized the business logic for this report, ensuring management can instantly track real-time fulfillment and verify case quantities across key accounts.</a:t>
            </a:r>
          </a:p>
        </p:txBody>
      </p:sp>
      <p:sp>
        <p:nvSpPr>
          <p:cNvPr id="4" name="Slide Number Placeholder 3"/>
          <p:cNvSpPr>
            <a:spLocks noGrp="1"/>
          </p:cNvSpPr>
          <p:nvPr>
            <p:ph type="sldNum" sz="quarter" idx="5"/>
          </p:nvPr>
        </p:nvSpPr>
        <p:spPr/>
        <p:txBody>
          <a:bodyPr/>
          <a:lstStyle/>
          <a:p>
            <a:fld id="{523C50DA-55FA-42B2-A67F-3D6B1ACD8C87}" type="slidenum">
              <a:rPr lang="en-US" smtClean="0"/>
              <a:t>7</a:t>
            </a:fld>
            <a:endParaRPr lang="en-US"/>
          </a:p>
        </p:txBody>
      </p:sp>
    </p:spTree>
    <p:extLst>
      <p:ext uri="{BB962C8B-B14F-4D97-AF65-F5344CB8AC3E}">
        <p14:creationId xmlns:p14="http://schemas.microsoft.com/office/powerpoint/2010/main" val="3334009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Transitioning to our third management report, we analyzed Q3 2026 employee labor allocation across departments to evaluate operational efficiency. Translating our SQL GROUP BY aggregation into a visual bar chart highlights where labor demand was heaviest during the third quarter. Production emerged as the highest total labor expenditure at 95 hours for a single employee, directly reflecting harvesting and bottling line demands. Distribution followed closely at 84 hours. While Executive and Management accumulated 82.5 total hours, splitting that across two headcount results in an average of 41.25 hours per manager. Visualizing departmental labor distribution gives leadership immediate oversight to adjust staffing levels and optimize workforce planning before peak operational periods.</a:t>
            </a:r>
            <a:endParaRPr lang="en-US" b="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523C50DA-55FA-42B2-A67F-3D6B1ACD8C87}" type="slidenum">
              <a:rPr lang="en-US" smtClean="0"/>
              <a:t>8</a:t>
            </a:fld>
            <a:endParaRPr lang="en-US"/>
          </a:p>
        </p:txBody>
      </p:sp>
    </p:spTree>
    <p:extLst>
      <p:ext uri="{BB962C8B-B14F-4D97-AF65-F5344CB8AC3E}">
        <p14:creationId xmlns:p14="http://schemas.microsoft.com/office/powerpoint/2010/main" val="34143808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D5B6B-0806-D5B5-AE2A-6C1AEDD3FA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16C86C-11BF-F016-08F7-F5F423AEA6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4D8E38-82BC-564A-0AB5-39DC69199A98}"/>
              </a:ext>
            </a:extLst>
          </p:cNvPr>
          <p:cNvSpPr>
            <a:spLocks noGrp="1"/>
          </p:cNvSpPr>
          <p:nvPr>
            <p:ph type="body" idx="1"/>
          </p:nvPr>
        </p:nvSpPr>
        <p:spPr/>
        <p:txBody>
          <a:bodyPr/>
          <a:lstStyle/>
          <a:p>
            <a:r>
              <a:rPr lang="en-US" dirty="0">
                <a:latin typeface="Arial" panose="020B0604020202020204" pitchFamily="34" charset="0"/>
                <a:cs typeface="Arial" panose="020B0604020202020204" pitchFamily="34" charset="0"/>
              </a:rPr>
              <a:t>Our fourth and final report tackles a major operational blind spot: our supply chain delay and pending-order tracker. By pulling from our </a:t>
            </a:r>
            <a:r>
              <a:rPr lang="en-US" sz="1200" kern="1200" dirty="0" err="1">
                <a:solidFill>
                  <a:schemeClr val="tx1"/>
                </a:solidFill>
                <a:latin typeface="Arial" panose="020B0604020202020204" pitchFamily="34" charset="0"/>
                <a:ea typeface="+mn-ea"/>
                <a:cs typeface="Arial" panose="020B0604020202020204" pitchFamily="34" charset="0"/>
              </a:rPr>
              <a:t>supply_orders</a:t>
            </a:r>
            <a:r>
              <a:rPr lang="en-US" dirty="0">
                <a:latin typeface="Arial" panose="020B0604020202020204" pitchFamily="34" charset="0"/>
                <a:cs typeface="Arial" panose="020B0604020202020204" pitchFamily="34" charset="0"/>
              </a:rPr>
              <a:t> and </a:t>
            </a:r>
            <a:r>
              <a:rPr lang="en-US" sz="1200" kern="1200" dirty="0">
                <a:solidFill>
                  <a:schemeClr val="tx1"/>
                </a:solidFill>
                <a:latin typeface="Arial" panose="020B0604020202020204" pitchFamily="34" charset="0"/>
                <a:ea typeface="+mn-ea"/>
                <a:cs typeface="Arial" panose="020B0604020202020204" pitchFamily="34" charset="0"/>
              </a:rPr>
              <a:t>suppliers</a:t>
            </a:r>
            <a:r>
              <a:rPr lang="en-US" dirty="0">
                <a:latin typeface="Arial" panose="020B0604020202020204" pitchFamily="34" charset="0"/>
                <a:cs typeface="Arial" panose="020B0604020202020204" pitchFamily="34" charset="0"/>
              </a:rPr>
              <a:t> tables, it automatically flags any raw material orders that are still sitting in a pending status, specifically looking for entries where the actual delivery date hasn't been logged yet. This catches active items like Order #105, tracking 750ml wine bottles from Glass &amp; Bottle Inc. that are expected on October 25th, 2026. Instead of finding out we're out of bottles </a:t>
            </a:r>
            <a:r>
              <a:rPr lang="en-US" i="1" dirty="0">
                <a:latin typeface="Arial" panose="020B0604020202020204" pitchFamily="34" charset="0"/>
                <a:cs typeface="Arial" panose="020B0604020202020204" pitchFamily="34" charset="0"/>
              </a:rPr>
              <a:t>after</a:t>
            </a:r>
            <a:r>
              <a:rPr lang="en-US" dirty="0">
                <a:latin typeface="Arial" panose="020B0604020202020204" pitchFamily="34" charset="0"/>
                <a:cs typeface="Arial" panose="020B0604020202020204" pitchFamily="34" charset="0"/>
              </a:rPr>
              <a:t> the production line has already stalled, this gives management real-time visibility into incoming shipments. It’s all about holding vendors accountable and staying ahead of bottlenecks so our bottling floor never skips a beat.</a:t>
            </a:r>
          </a:p>
          <a:p>
            <a:endParaRPr lang="en-US" b="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91066D-2EB8-82D9-5E75-D3816FBBFDB7}"/>
              </a:ext>
            </a:extLst>
          </p:cNvPr>
          <p:cNvSpPr>
            <a:spLocks noGrp="1"/>
          </p:cNvSpPr>
          <p:nvPr>
            <p:ph type="sldNum" sz="quarter" idx="5"/>
          </p:nvPr>
        </p:nvSpPr>
        <p:spPr/>
        <p:txBody>
          <a:bodyPr/>
          <a:lstStyle/>
          <a:p>
            <a:fld id="{523C50DA-55FA-42B2-A67F-3D6B1ACD8C87}" type="slidenum">
              <a:rPr lang="en-US" smtClean="0"/>
              <a:t>9</a:t>
            </a:fld>
            <a:endParaRPr lang="en-US"/>
          </a:p>
        </p:txBody>
      </p:sp>
    </p:spTree>
    <p:extLst>
      <p:ext uri="{BB962C8B-B14F-4D97-AF65-F5344CB8AC3E}">
        <p14:creationId xmlns:p14="http://schemas.microsoft.com/office/powerpoint/2010/main" val="1425134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anose="020B0604020202020204" pitchFamily="34" charset="0"/>
                <a:cs typeface="Arial" panose="020B0604020202020204" pitchFamily="34" charset="0"/>
              </a:rPr>
              <a:t>So, how does our deliverable actually solve the Bacchus Winery case study problem? The core issue was a lack of unified data preventing informed decision-making. By implementing a fully normalized relational database, we completely eliminated their fragmented tracking methods. The data is now centralized, secure, and easily accessible. Furthermore, we provided a production-ready Python automation script that bridges the gap between raw database storage and actionable business intelligence. Instead of manually tallying up spreadsheets, management can execute a single script to generate perfectly formatted ASCII tables detailing supply chain reliability, distributor case volumes, and departmental labor distribution. Our solution transforms their raw operational data into strategic assets. The combination of Neosha’s schema foundation, Prince’s business logic, and my backend error handling ensures that Bacchus Winery now has a scalable, reliable infrastructure that can easily grow alongside their expanding business.</a:t>
            </a:r>
          </a:p>
        </p:txBody>
      </p:sp>
      <p:sp>
        <p:nvSpPr>
          <p:cNvPr id="4" name="Slide Number Placeholder 3"/>
          <p:cNvSpPr>
            <a:spLocks noGrp="1"/>
          </p:cNvSpPr>
          <p:nvPr>
            <p:ph type="sldNum" sz="quarter" idx="5"/>
          </p:nvPr>
        </p:nvSpPr>
        <p:spPr/>
        <p:txBody>
          <a:bodyPr/>
          <a:lstStyle/>
          <a:p>
            <a:fld id="{523C50DA-55FA-42B2-A67F-3D6B1ACD8C87}" type="slidenum">
              <a:rPr lang="en-US" smtClean="0"/>
              <a:t>10</a:t>
            </a:fld>
            <a:endParaRPr lang="en-US"/>
          </a:p>
        </p:txBody>
      </p:sp>
    </p:spTree>
    <p:extLst>
      <p:ext uri="{BB962C8B-B14F-4D97-AF65-F5344CB8AC3E}">
        <p14:creationId xmlns:p14="http://schemas.microsoft.com/office/powerpoint/2010/main" val="33945704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anose="020B0604020202020204" pitchFamily="34" charset="0"/>
                <a:cs typeface="Arial" panose="020B0604020202020204" pitchFamily="34" charset="0"/>
              </a:rPr>
              <a:t>To summarize: We believe that we have successfully modernized Bacchus Winery's data management systems. We identified their need for a centralized system, mapped out the logical architecture through our Entity-Relationship Diagram, and established key assumptions about their business rules to guide our design. We then physically built the MySQL database and populated it. Finally, we engineered a secure, Python-based reporting tool that automatically generates four critical management reports focusing on supplier delivery performance, distributor case volumes, and quarterly employee labor hours. This project was a highly collaborative effort that utilized each of our strengths to deliver a comprehensive, enterprise-ready database solution. </a:t>
            </a:r>
          </a:p>
        </p:txBody>
      </p:sp>
      <p:sp>
        <p:nvSpPr>
          <p:cNvPr id="4" name="Slide Number Placeholder 3"/>
          <p:cNvSpPr>
            <a:spLocks noGrp="1"/>
          </p:cNvSpPr>
          <p:nvPr>
            <p:ph type="sldNum" sz="quarter" idx="5"/>
          </p:nvPr>
        </p:nvSpPr>
        <p:spPr/>
        <p:txBody>
          <a:bodyPr/>
          <a:lstStyle/>
          <a:p>
            <a:fld id="{523C50DA-55FA-42B2-A67F-3D6B1ACD8C87}" type="slidenum">
              <a:rPr lang="en-US" smtClean="0"/>
              <a:t>11</a:t>
            </a:fld>
            <a:endParaRPr lang="en-US"/>
          </a:p>
        </p:txBody>
      </p:sp>
    </p:spTree>
    <p:extLst>
      <p:ext uri="{BB962C8B-B14F-4D97-AF65-F5344CB8AC3E}">
        <p14:creationId xmlns:p14="http://schemas.microsoft.com/office/powerpoint/2010/main" val="22135485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Any questions? Thank you for your time and attention as we walked through our design process. We are really proud of the final system we built, and we look forward to reviewing everyone else's presentations on the project forum this week!</a:t>
            </a:r>
            <a:endParaRPr lang="en-US" sz="1200" b="0" i="0" u="none" dirty="0">
              <a:solidFill>
                <a:srgbClr val="44403C"/>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523C50DA-55FA-42B2-A67F-3D6B1ACD8C87}" type="slidenum">
              <a:rPr lang="en-US" smtClean="0"/>
              <a:t>12</a:t>
            </a:fld>
            <a:endParaRPr lang="en-US"/>
          </a:p>
        </p:txBody>
      </p:sp>
    </p:spTree>
    <p:extLst>
      <p:ext uri="{BB962C8B-B14F-4D97-AF65-F5344CB8AC3E}">
        <p14:creationId xmlns:p14="http://schemas.microsoft.com/office/powerpoint/2010/main" val="15728016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523C50DA-55FA-42B2-A67F-3D6B1ACD8C87}" type="slidenum">
              <a:rPr lang="en-US" smtClean="0"/>
              <a:t>13</a:t>
            </a:fld>
            <a:endParaRPr lang="en-US"/>
          </a:p>
        </p:txBody>
      </p:sp>
    </p:spTree>
    <p:extLst>
      <p:ext uri="{BB962C8B-B14F-4D97-AF65-F5344CB8AC3E}">
        <p14:creationId xmlns:p14="http://schemas.microsoft.com/office/powerpoint/2010/main" val="1902238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3477237" y="2425154"/>
            <a:ext cx="5237523" cy="807913"/>
          </a:xfrm>
          <a:prstGeom prst="rect">
            <a:avLst/>
          </a:prstGeom>
          <a:noFill/>
        </p:spPr>
        <p:txBody>
          <a:bodyPr wrap="none" lIns="0" tIns="0" rIns="0" bIns="0" anchor="t">
            <a:spAutoFit/>
          </a:bodyPr>
          <a:lstStyle/>
          <a:p>
            <a:pPr algn="ctr"/>
            <a:r>
              <a:rPr sz="5250" b="1" i="0" u="none" dirty="0">
                <a:solidFill>
                  <a:srgbClr val="4C0519"/>
                </a:solidFill>
                <a:latin typeface="Arial" panose="020B0604020202020204" pitchFamily="34" charset="0"/>
                <a:cs typeface="Arial" panose="020B0604020202020204" pitchFamily="34" charset="0"/>
              </a:rPr>
              <a:t>Bacchus Winery</a:t>
            </a:r>
          </a:p>
        </p:txBody>
      </p:sp>
      <p:sp>
        <p:nvSpPr>
          <p:cNvPr id="4" name="TextBox 3"/>
          <p:cNvSpPr txBox="1"/>
          <p:nvPr/>
        </p:nvSpPr>
        <p:spPr>
          <a:xfrm>
            <a:off x="2970609" y="3511004"/>
            <a:ext cx="6250781" cy="1075294"/>
          </a:xfrm>
          <a:prstGeom prst="rect">
            <a:avLst/>
          </a:prstGeom>
          <a:noFill/>
        </p:spPr>
        <p:txBody>
          <a:bodyPr wrap="square" lIns="0" tIns="0" rIns="0" bIns="0" anchor="t">
            <a:spAutoFit/>
          </a:bodyPr>
          <a:lstStyle/>
          <a:p>
            <a:pPr algn="ctr">
              <a:lnSpc>
                <a:spcPts val="2879"/>
              </a:lnSpc>
            </a:pPr>
            <a:r>
              <a:rPr sz="1800" b="0" i="0" u="none" dirty="0">
                <a:solidFill>
                  <a:srgbClr val="57534E"/>
                </a:solidFill>
                <a:latin typeface="Arial" panose="020B0604020202020204" pitchFamily="34" charset="0"/>
                <a:cs typeface="Arial" panose="020B0604020202020204" pitchFamily="34" charset="0"/>
              </a:rPr>
              <a:t>Database Implementation &amp; Management Reports</a:t>
            </a:r>
            <a:r>
              <a:rPr dirty="0">
                <a:latin typeface="Arial" panose="020B0604020202020204" pitchFamily="34" charset="0"/>
                <a:cs typeface="Arial" panose="020B0604020202020204" pitchFamily="34" charset="0"/>
              </a:rPr>
              <a:t>
</a:t>
            </a:r>
            <a:r>
              <a:rPr sz="1800" b="0" i="0" u="none" dirty="0">
                <a:solidFill>
                  <a:srgbClr val="57534E"/>
                </a:solidFill>
                <a:latin typeface="Arial" panose="020B0604020202020204" pitchFamily="34" charset="0"/>
                <a:cs typeface="Arial" panose="020B0604020202020204" pitchFamily="34" charset="0"/>
              </a:rPr>
              <a:t> A Case Study Analysis by Group C</a:t>
            </a:r>
            <a:r>
              <a:rPr lang="en-US" dirty="0">
                <a:solidFill>
                  <a:srgbClr val="57534E"/>
                </a:solidFill>
                <a:latin typeface="Arial" panose="020B0604020202020204" pitchFamily="34" charset="0"/>
                <a:cs typeface="Arial" panose="020B0604020202020204" pitchFamily="34" charset="0"/>
              </a:rPr>
              <a:t>:</a:t>
            </a:r>
            <a:br>
              <a:rPr lang="en-US" dirty="0">
                <a:solidFill>
                  <a:srgbClr val="57534E"/>
                </a:solidFill>
                <a:latin typeface="Arial" panose="020B0604020202020204" pitchFamily="34" charset="0"/>
                <a:cs typeface="Arial" panose="020B0604020202020204" pitchFamily="34" charset="0"/>
              </a:rPr>
            </a:br>
            <a:r>
              <a:rPr lang="en-US" dirty="0">
                <a:solidFill>
                  <a:srgbClr val="57534E"/>
                </a:solidFill>
                <a:latin typeface="Arial" panose="020B0604020202020204" pitchFamily="34" charset="0"/>
                <a:cs typeface="Arial" panose="020B0604020202020204" pitchFamily="34" charset="0"/>
              </a:rPr>
              <a:t>Neosha Allen, Prince Hubbard, and Nicholas Zankl</a:t>
            </a:r>
            <a:endParaRPr sz="1800" b="0" i="0" u="none" dirty="0">
              <a:solidFill>
                <a:srgbClr val="57534E"/>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6334125" y="1843087"/>
            <a:ext cx="5286375" cy="3619500"/>
          </a:xfrm>
          <a:prstGeom prst="rect">
            <a:avLst/>
          </a:prstGeom>
        </p:spPr>
      </p:pic>
      <p:sp>
        <p:nvSpPr>
          <p:cNvPr id="4" name="TextBox 3"/>
          <p:cNvSpPr txBox="1"/>
          <p:nvPr/>
        </p:nvSpPr>
        <p:spPr>
          <a:xfrm>
            <a:off x="571500" y="571500"/>
            <a:ext cx="2890215" cy="507831"/>
          </a:xfrm>
          <a:prstGeom prst="rect">
            <a:avLst/>
          </a:prstGeom>
          <a:noFill/>
        </p:spPr>
        <p:txBody>
          <a:bodyPr wrap="none" lIns="0" tIns="0" rIns="0" bIns="0" anchor="t">
            <a:spAutoFit/>
          </a:bodyPr>
          <a:lstStyle/>
          <a:p>
            <a:pPr algn="l"/>
            <a:r>
              <a:rPr sz="3300" b="1" i="0" u="none">
                <a:solidFill>
                  <a:srgbClr val="4C0519"/>
                </a:solidFill>
                <a:latin typeface="Arial" panose="020B0604020202020204" pitchFamily="34" charset="0"/>
                <a:cs typeface="Arial" panose="020B0604020202020204" pitchFamily="34" charset="0"/>
              </a:rPr>
              <a:t>The Challenge</a:t>
            </a:r>
          </a:p>
        </p:txBody>
      </p:sp>
      <p:sp>
        <p:nvSpPr>
          <p:cNvPr id="5" name="TextBox 4"/>
          <p:cNvSpPr txBox="1"/>
          <p:nvPr/>
        </p:nvSpPr>
        <p:spPr>
          <a:xfrm>
            <a:off x="695325" y="1843087"/>
            <a:ext cx="67326" cy="230832"/>
          </a:xfrm>
          <a:prstGeom prst="rect">
            <a:avLst/>
          </a:prstGeom>
          <a:noFill/>
        </p:spPr>
        <p:txBody>
          <a:bodyPr wrap="none" lIns="0" tIns="0" rIns="0" bIns="0" anchor="t">
            <a:spAutoFit/>
          </a:bodyPr>
          <a:lstStyle/>
          <a:p>
            <a:pPr algn="l"/>
            <a:r>
              <a:rPr sz="1500" b="0" i="0" u="none">
                <a:solidFill>
                  <a:srgbClr val="44403C"/>
                </a:solidFill>
                <a:latin typeface="Arial" panose="020B0604020202020204" pitchFamily="34" charset="0"/>
                <a:cs typeface="Arial" panose="020B0604020202020204" pitchFamily="34" charset="0"/>
              </a:rPr>
              <a:t>•</a:t>
            </a:r>
          </a:p>
        </p:txBody>
      </p:sp>
      <p:sp>
        <p:nvSpPr>
          <p:cNvPr id="6" name="TextBox 5"/>
          <p:cNvSpPr txBox="1"/>
          <p:nvPr/>
        </p:nvSpPr>
        <p:spPr>
          <a:xfrm>
            <a:off x="809625" y="1843087"/>
            <a:ext cx="5143500" cy="582404"/>
          </a:xfrm>
          <a:prstGeom prst="rect">
            <a:avLst/>
          </a:prstGeom>
          <a:noFill/>
        </p:spPr>
        <p:txBody>
          <a:bodyPr wrap="square" lIns="114300" tIns="0" rIns="0" bIns="0" anchor="t">
            <a:spAutoFit/>
          </a:bodyPr>
          <a:lstStyle/>
          <a:p>
            <a:pPr algn="l">
              <a:lnSpc>
                <a:spcPts val="2400"/>
              </a:lnSpc>
            </a:pPr>
            <a:r>
              <a:rPr sz="1500" b="1" i="0" u="none">
                <a:solidFill>
                  <a:srgbClr val="44403C"/>
                </a:solidFill>
                <a:latin typeface="Arial" panose="020B0604020202020204" pitchFamily="34" charset="0"/>
                <a:cs typeface="Arial" panose="020B0604020202020204" pitchFamily="34" charset="0"/>
              </a:rPr>
              <a:t>Client Identity:</a:t>
            </a:r>
            <a:r>
              <a:rPr sz="1500" b="0" i="0" u="none">
                <a:solidFill>
                  <a:srgbClr val="44403C"/>
                </a:solidFill>
                <a:latin typeface="Arial" panose="020B0604020202020204" pitchFamily="34" charset="0"/>
                <a:cs typeface="Arial" panose="020B0604020202020204" pitchFamily="34" charset="0"/>
              </a:rPr>
              <a:t> Bacchus Winery, a prominent regional wine producer looking to scale operations.</a:t>
            </a:r>
          </a:p>
        </p:txBody>
      </p:sp>
      <p:sp>
        <p:nvSpPr>
          <p:cNvPr id="7" name="TextBox 6"/>
          <p:cNvSpPr txBox="1"/>
          <p:nvPr/>
        </p:nvSpPr>
        <p:spPr>
          <a:xfrm>
            <a:off x="695325" y="2643187"/>
            <a:ext cx="67326" cy="230832"/>
          </a:xfrm>
          <a:prstGeom prst="rect">
            <a:avLst/>
          </a:prstGeom>
          <a:noFill/>
        </p:spPr>
        <p:txBody>
          <a:bodyPr wrap="none" lIns="0" tIns="0" rIns="0" bIns="0" anchor="t">
            <a:spAutoFit/>
          </a:bodyPr>
          <a:lstStyle/>
          <a:p>
            <a:pPr algn="l"/>
            <a:r>
              <a:rPr sz="1500" b="0" i="0" u="none">
                <a:solidFill>
                  <a:srgbClr val="44403C"/>
                </a:solidFill>
                <a:latin typeface="Arial" panose="020B0604020202020204" pitchFamily="34" charset="0"/>
                <a:cs typeface="Arial" panose="020B0604020202020204" pitchFamily="34" charset="0"/>
              </a:rPr>
              <a:t>•</a:t>
            </a:r>
          </a:p>
        </p:txBody>
      </p:sp>
      <p:sp>
        <p:nvSpPr>
          <p:cNvPr id="8" name="TextBox 7"/>
          <p:cNvSpPr txBox="1"/>
          <p:nvPr/>
        </p:nvSpPr>
        <p:spPr>
          <a:xfrm>
            <a:off x="809625" y="2643187"/>
            <a:ext cx="5143500" cy="914400"/>
          </a:xfrm>
          <a:prstGeom prst="rect">
            <a:avLst/>
          </a:prstGeom>
          <a:noFill/>
        </p:spPr>
        <p:txBody>
          <a:bodyPr wrap="square" lIns="114300" tIns="0" rIns="0" bIns="0" anchor="t">
            <a:spAutoFit/>
          </a:bodyPr>
          <a:lstStyle/>
          <a:p>
            <a:pPr algn="l">
              <a:lnSpc>
                <a:spcPts val="2400"/>
              </a:lnSpc>
            </a:pPr>
            <a:r>
              <a:rPr sz="1500" b="1" i="0" u="none">
                <a:solidFill>
                  <a:srgbClr val="44403C"/>
                </a:solidFill>
                <a:latin typeface="Arial" panose="020B0604020202020204" pitchFamily="34" charset="0"/>
                <a:cs typeface="Arial" panose="020B0604020202020204" pitchFamily="34" charset="0"/>
              </a:rPr>
              <a:t>The Core Problem:</a:t>
            </a:r>
            <a:r>
              <a:rPr sz="1500" b="0" i="0" u="none">
                <a:solidFill>
                  <a:srgbClr val="44403C"/>
                </a:solidFill>
                <a:latin typeface="Arial" panose="020B0604020202020204" pitchFamily="34" charset="0"/>
                <a:cs typeface="Arial" panose="020B0604020202020204" pitchFamily="34" charset="0"/>
              </a:rPr>
              <a:t> Their supply chain tracking was severely disconnected, leading to unclear distributor sales volume and inconsistent auditing of labor hours.</a:t>
            </a:r>
          </a:p>
        </p:txBody>
      </p:sp>
      <p:sp>
        <p:nvSpPr>
          <p:cNvPr id="9" name="TextBox 8"/>
          <p:cNvSpPr txBox="1"/>
          <p:nvPr/>
        </p:nvSpPr>
        <p:spPr>
          <a:xfrm>
            <a:off x="695325" y="3748087"/>
            <a:ext cx="67326" cy="230832"/>
          </a:xfrm>
          <a:prstGeom prst="rect">
            <a:avLst/>
          </a:prstGeom>
          <a:noFill/>
        </p:spPr>
        <p:txBody>
          <a:bodyPr wrap="none" lIns="0" tIns="0" rIns="0" bIns="0" anchor="t">
            <a:spAutoFit/>
          </a:bodyPr>
          <a:lstStyle/>
          <a:p>
            <a:pPr algn="l"/>
            <a:r>
              <a:rPr sz="1500" b="0" i="0" u="none">
                <a:solidFill>
                  <a:srgbClr val="44403C"/>
                </a:solidFill>
                <a:latin typeface="Arial" panose="020B0604020202020204" pitchFamily="34" charset="0"/>
                <a:cs typeface="Arial" panose="020B0604020202020204" pitchFamily="34" charset="0"/>
              </a:rPr>
              <a:t>•</a:t>
            </a:r>
          </a:p>
        </p:txBody>
      </p:sp>
      <p:sp>
        <p:nvSpPr>
          <p:cNvPr id="10" name="TextBox 9"/>
          <p:cNvSpPr txBox="1"/>
          <p:nvPr/>
        </p:nvSpPr>
        <p:spPr>
          <a:xfrm>
            <a:off x="809625" y="3748087"/>
            <a:ext cx="5143500" cy="914400"/>
          </a:xfrm>
          <a:prstGeom prst="rect">
            <a:avLst/>
          </a:prstGeom>
          <a:noFill/>
        </p:spPr>
        <p:txBody>
          <a:bodyPr wrap="square" lIns="114300" tIns="0" rIns="0" bIns="0" anchor="t">
            <a:spAutoFit/>
          </a:bodyPr>
          <a:lstStyle/>
          <a:p>
            <a:pPr algn="l">
              <a:lnSpc>
                <a:spcPts val="2400"/>
              </a:lnSpc>
            </a:pPr>
            <a:r>
              <a:rPr sz="1500" b="1" i="0" u="none">
                <a:solidFill>
                  <a:srgbClr val="44403C"/>
                </a:solidFill>
                <a:latin typeface="Arial" panose="020B0604020202020204" pitchFamily="34" charset="0"/>
                <a:cs typeface="Arial" panose="020B0604020202020204" pitchFamily="34" charset="0"/>
              </a:rPr>
              <a:t>Call to Action:</a:t>
            </a:r>
            <a:r>
              <a:rPr sz="1500" b="0" i="0" u="none">
                <a:solidFill>
                  <a:srgbClr val="44403C"/>
                </a:solidFill>
                <a:latin typeface="Arial" panose="020B0604020202020204" pitchFamily="34" charset="0"/>
                <a:cs typeface="Arial" panose="020B0604020202020204" pitchFamily="34" charset="0"/>
              </a:rPr>
              <a:t> The winery required a centralized, structured database architecture to capture operational data across production, logistics, and sales.</a:t>
            </a:r>
          </a:p>
        </p:txBody>
      </p:sp>
      <p:sp>
        <p:nvSpPr>
          <p:cNvPr id="11" name="TextBox 10"/>
          <p:cNvSpPr txBox="1"/>
          <p:nvPr/>
        </p:nvSpPr>
        <p:spPr>
          <a:xfrm>
            <a:off x="695325" y="4852987"/>
            <a:ext cx="67326" cy="230832"/>
          </a:xfrm>
          <a:prstGeom prst="rect">
            <a:avLst/>
          </a:prstGeom>
          <a:noFill/>
        </p:spPr>
        <p:txBody>
          <a:bodyPr wrap="none" lIns="0" tIns="0" rIns="0" bIns="0" anchor="t">
            <a:spAutoFit/>
          </a:bodyPr>
          <a:lstStyle/>
          <a:p>
            <a:pPr algn="l"/>
            <a:r>
              <a:rPr sz="1500" b="0" i="0" u="none">
                <a:solidFill>
                  <a:srgbClr val="44403C"/>
                </a:solidFill>
                <a:latin typeface="Arial" panose="020B0604020202020204" pitchFamily="34" charset="0"/>
                <a:cs typeface="Arial" panose="020B0604020202020204" pitchFamily="34" charset="0"/>
              </a:rPr>
              <a:t>•</a:t>
            </a:r>
          </a:p>
        </p:txBody>
      </p:sp>
      <p:sp>
        <p:nvSpPr>
          <p:cNvPr id="12" name="TextBox 11"/>
          <p:cNvSpPr txBox="1"/>
          <p:nvPr/>
        </p:nvSpPr>
        <p:spPr>
          <a:xfrm>
            <a:off x="809625" y="4852987"/>
            <a:ext cx="5143500" cy="914400"/>
          </a:xfrm>
          <a:prstGeom prst="rect">
            <a:avLst/>
          </a:prstGeom>
          <a:noFill/>
        </p:spPr>
        <p:txBody>
          <a:bodyPr wrap="square" lIns="114300" tIns="0" rIns="0" bIns="0" anchor="t">
            <a:spAutoFit/>
          </a:bodyPr>
          <a:lstStyle/>
          <a:p>
            <a:pPr algn="l">
              <a:lnSpc>
                <a:spcPts val="2400"/>
              </a:lnSpc>
            </a:pPr>
            <a:r>
              <a:rPr sz="1500" b="1" i="0" u="none" dirty="0">
                <a:solidFill>
                  <a:srgbClr val="44403C"/>
                </a:solidFill>
                <a:latin typeface="Arial" panose="020B0604020202020204" pitchFamily="34" charset="0"/>
                <a:cs typeface="Arial" panose="020B0604020202020204" pitchFamily="34" charset="0"/>
              </a:rPr>
              <a:t>Our Objective:</a:t>
            </a:r>
            <a:r>
              <a:rPr sz="1500" b="0" i="0" u="none" dirty="0">
                <a:solidFill>
                  <a:srgbClr val="44403C"/>
                </a:solidFill>
                <a:latin typeface="Arial" panose="020B0604020202020204" pitchFamily="34" charset="0"/>
                <a:cs typeface="Arial" panose="020B0604020202020204" pitchFamily="34" charset="0"/>
              </a:rPr>
              <a:t> Architect a robust database and deliver actionable management reports to eliminate operational bottlenecks.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Rounded Rectangle 2"/>
          <p:cNvSpPr/>
          <p:nvPr/>
        </p:nvSpPr>
        <p:spPr>
          <a:xfrm>
            <a:off x="571500" y="1819275"/>
            <a:ext cx="3492549" cy="4162425"/>
          </a:xfrm>
          <a:prstGeom prst="roundRect">
            <a:avLst>
              <a:gd name="adj" fmla="val 3272"/>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4" name="Rounded Rectangle 3"/>
          <p:cNvSpPr/>
          <p:nvPr/>
        </p:nvSpPr>
        <p:spPr>
          <a:xfrm>
            <a:off x="4349799" y="1819275"/>
            <a:ext cx="3492549" cy="4162425"/>
          </a:xfrm>
          <a:prstGeom prst="roundRect">
            <a:avLst>
              <a:gd name="adj" fmla="val 3272"/>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5" name="Rounded Rectangle 4"/>
          <p:cNvSpPr/>
          <p:nvPr/>
        </p:nvSpPr>
        <p:spPr>
          <a:xfrm>
            <a:off x="8128099" y="1819275"/>
            <a:ext cx="3492549" cy="4162425"/>
          </a:xfrm>
          <a:prstGeom prst="roundRect">
            <a:avLst>
              <a:gd name="adj" fmla="val 3272"/>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pic>
        <p:nvPicPr>
          <p:cNvPr id="6" name="Picture 5" descr="image.png"/>
          <p:cNvPicPr>
            <a:picLocks noChangeAspect="1"/>
          </p:cNvPicPr>
          <p:nvPr/>
        </p:nvPicPr>
        <p:blipFill>
          <a:blip r:embed="rId4"/>
          <a:stretch>
            <a:fillRect/>
          </a:stretch>
        </p:blipFill>
        <p:spPr>
          <a:xfrm>
            <a:off x="2108150" y="2257425"/>
            <a:ext cx="419100" cy="476250"/>
          </a:xfrm>
          <a:prstGeom prst="rect">
            <a:avLst/>
          </a:prstGeom>
        </p:spPr>
      </p:pic>
      <p:pic>
        <p:nvPicPr>
          <p:cNvPr id="7" name="Picture 6" descr="image.png"/>
          <p:cNvPicPr>
            <a:picLocks noChangeAspect="1"/>
          </p:cNvPicPr>
          <p:nvPr/>
        </p:nvPicPr>
        <p:blipFill>
          <a:blip r:embed="rId5"/>
          <a:stretch>
            <a:fillRect/>
          </a:stretch>
        </p:blipFill>
        <p:spPr>
          <a:xfrm>
            <a:off x="5857875" y="2257425"/>
            <a:ext cx="476250" cy="476250"/>
          </a:xfrm>
          <a:prstGeom prst="rect">
            <a:avLst/>
          </a:prstGeom>
        </p:spPr>
      </p:pic>
      <p:pic>
        <p:nvPicPr>
          <p:cNvPr id="8" name="Picture 7" descr="image.png"/>
          <p:cNvPicPr>
            <a:picLocks noChangeAspect="1"/>
          </p:cNvPicPr>
          <p:nvPr/>
        </p:nvPicPr>
        <p:blipFill>
          <a:blip r:embed="rId6"/>
          <a:stretch>
            <a:fillRect/>
          </a:stretch>
        </p:blipFill>
        <p:spPr>
          <a:xfrm>
            <a:off x="9574262" y="2257425"/>
            <a:ext cx="600075" cy="476250"/>
          </a:xfrm>
          <a:prstGeom prst="rect">
            <a:avLst/>
          </a:prstGeom>
        </p:spPr>
      </p:pic>
      <p:sp>
        <p:nvSpPr>
          <p:cNvPr id="9" name="TextBox 8"/>
          <p:cNvSpPr txBox="1"/>
          <p:nvPr/>
        </p:nvSpPr>
        <p:spPr>
          <a:xfrm>
            <a:off x="571500" y="571500"/>
            <a:ext cx="7083991" cy="507831"/>
          </a:xfrm>
          <a:prstGeom prst="rect">
            <a:avLst/>
          </a:prstGeom>
          <a:noFill/>
        </p:spPr>
        <p:txBody>
          <a:bodyPr wrap="none" lIns="0" tIns="0" rIns="0" bIns="0" anchor="t">
            <a:spAutoFit/>
          </a:bodyPr>
          <a:lstStyle/>
          <a:p>
            <a:pPr algn="l"/>
            <a:r>
              <a:rPr sz="3300" b="1" i="0" u="none">
                <a:solidFill>
                  <a:srgbClr val="4C0519"/>
                </a:solidFill>
                <a:latin typeface="Arial" panose="020B0604020202020204" pitchFamily="34" charset="0"/>
                <a:cs typeface="Arial" panose="020B0604020202020204" pitchFamily="34" charset="0"/>
              </a:rPr>
              <a:t>Design Assumptions &amp; Constraints</a:t>
            </a:r>
          </a:p>
        </p:txBody>
      </p:sp>
      <p:sp>
        <p:nvSpPr>
          <p:cNvPr id="10" name="TextBox 9"/>
          <p:cNvSpPr txBox="1"/>
          <p:nvPr/>
        </p:nvSpPr>
        <p:spPr>
          <a:xfrm>
            <a:off x="413337" y="3019425"/>
            <a:ext cx="3808874" cy="346249"/>
          </a:xfrm>
          <a:prstGeom prst="rect">
            <a:avLst/>
          </a:prstGeom>
          <a:noFill/>
        </p:spPr>
        <p:txBody>
          <a:bodyPr wrap="square" lIns="0" tIns="0" rIns="0" bIns="0" anchor="t">
            <a:spAutoFit/>
          </a:bodyPr>
          <a:lstStyle/>
          <a:p>
            <a:pPr algn="ctr"/>
            <a:r>
              <a:rPr sz="2250" b="1" i="0" u="none">
                <a:solidFill>
                  <a:srgbClr val="4C0519"/>
                </a:solidFill>
                <a:latin typeface="Arial" panose="020B0604020202020204" pitchFamily="34" charset="0"/>
                <a:cs typeface="Arial" panose="020B0604020202020204" pitchFamily="34" charset="0"/>
              </a:rPr>
              <a:t>Standardized Quarters</a:t>
            </a:r>
          </a:p>
        </p:txBody>
      </p:sp>
      <p:sp>
        <p:nvSpPr>
          <p:cNvPr id="11" name="TextBox 10"/>
          <p:cNvSpPr txBox="1"/>
          <p:nvPr/>
        </p:nvSpPr>
        <p:spPr>
          <a:xfrm>
            <a:off x="503877" y="3562350"/>
            <a:ext cx="3627499" cy="1197700"/>
          </a:xfrm>
          <a:prstGeom prst="rect">
            <a:avLst/>
          </a:prstGeom>
          <a:noFill/>
        </p:spPr>
        <p:txBody>
          <a:bodyPr wrap="square" lIns="0" tIns="0" rIns="0" bIns="0" anchor="t">
            <a:spAutoFit/>
          </a:bodyPr>
          <a:lstStyle/>
          <a:p>
            <a:pPr algn="ctr">
              <a:lnSpc>
                <a:spcPts val="2400"/>
              </a:lnSpc>
            </a:pPr>
            <a:r>
              <a:rPr sz="1500" b="0" i="0" u="none" dirty="0">
                <a:solidFill>
                  <a:srgbClr val="44403C"/>
                </a:solidFill>
                <a:latin typeface="Arial" panose="020B0604020202020204" pitchFamily="34" charset="0"/>
                <a:cs typeface="Arial" panose="020B0604020202020204" pitchFamily="34" charset="0"/>
              </a:rPr>
              <a:t>We assumed standard 3-month </a:t>
            </a:r>
            <a:endParaRPr lang="en-US" sz="1500" b="0" i="0" u="none" dirty="0">
              <a:solidFill>
                <a:srgbClr val="44403C"/>
              </a:solidFill>
              <a:latin typeface="Arial" panose="020B0604020202020204" pitchFamily="34" charset="0"/>
              <a:cs typeface="Arial" panose="020B0604020202020204" pitchFamily="34" charset="0"/>
            </a:endParaRPr>
          </a:p>
          <a:p>
            <a:pPr algn="ctr">
              <a:lnSpc>
                <a:spcPts val="2400"/>
              </a:lnSpc>
            </a:pPr>
            <a:r>
              <a:rPr sz="1500" b="0" i="0" u="none" dirty="0">
                <a:solidFill>
                  <a:srgbClr val="44403C"/>
                </a:solidFill>
                <a:latin typeface="Arial" panose="020B0604020202020204" pitchFamily="34" charset="0"/>
                <a:cs typeface="Arial" panose="020B0604020202020204" pitchFamily="34" charset="0"/>
              </a:rPr>
              <a:t>reporting intervals. This constraint </a:t>
            </a:r>
            <a:endParaRPr lang="en-US" sz="1500" b="0" i="0" u="none" dirty="0">
              <a:solidFill>
                <a:srgbClr val="44403C"/>
              </a:solidFill>
              <a:latin typeface="Arial" panose="020B0604020202020204" pitchFamily="34" charset="0"/>
              <a:cs typeface="Arial" panose="020B0604020202020204" pitchFamily="34" charset="0"/>
            </a:endParaRPr>
          </a:p>
          <a:p>
            <a:pPr algn="ctr">
              <a:lnSpc>
                <a:spcPts val="2400"/>
              </a:lnSpc>
            </a:pPr>
            <a:r>
              <a:rPr sz="1500" b="0" i="0" u="none" dirty="0">
                <a:solidFill>
                  <a:srgbClr val="44403C"/>
                </a:solidFill>
                <a:latin typeface="Arial" panose="020B0604020202020204" pitchFamily="34" charset="0"/>
                <a:cs typeface="Arial" panose="020B0604020202020204" pitchFamily="34" charset="0"/>
              </a:rPr>
              <a:t>ensures consistency when generating </a:t>
            </a:r>
            <a:endParaRPr lang="en-US" sz="1500" b="0" i="0" u="none" dirty="0">
              <a:solidFill>
                <a:srgbClr val="44403C"/>
              </a:solidFill>
              <a:latin typeface="Arial" panose="020B0604020202020204" pitchFamily="34" charset="0"/>
              <a:cs typeface="Arial" panose="020B0604020202020204" pitchFamily="34" charset="0"/>
            </a:endParaRPr>
          </a:p>
          <a:p>
            <a:pPr algn="ctr">
              <a:lnSpc>
                <a:spcPts val="2400"/>
              </a:lnSpc>
            </a:pPr>
            <a:r>
              <a:rPr sz="1500" b="0" i="0" u="none" dirty="0">
                <a:solidFill>
                  <a:srgbClr val="44403C"/>
                </a:solidFill>
                <a:latin typeface="Arial" panose="020B0604020202020204" pitchFamily="34" charset="0"/>
                <a:cs typeface="Arial" panose="020B0604020202020204" pitchFamily="34" charset="0"/>
              </a:rPr>
              <a:t>labor and sales comparative reports.</a:t>
            </a:r>
          </a:p>
        </p:txBody>
      </p:sp>
      <p:sp>
        <p:nvSpPr>
          <p:cNvPr id="12" name="TextBox 11"/>
          <p:cNvSpPr txBox="1"/>
          <p:nvPr/>
        </p:nvSpPr>
        <p:spPr>
          <a:xfrm>
            <a:off x="4861686" y="3019425"/>
            <a:ext cx="2468625" cy="346249"/>
          </a:xfrm>
          <a:prstGeom prst="rect">
            <a:avLst/>
          </a:prstGeom>
          <a:noFill/>
        </p:spPr>
        <p:txBody>
          <a:bodyPr wrap="none" lIns="0" tIns="0" rIns="0" bIns="0" anchor="t">
            <a:spAutoFit/>
          </a:bodyPr>
          <a:lstStyle/>
          <a:p>
            <a:pPr algn="ctr"/>
            <a:r>
              <a:rPr sz="2250" b="1" i="0" u="none">
                <a:solidFill>
                  <a:srgbClr val="4C0519"/>
                </a:solidFill>
                <a:latin typeface="Arial" panose="020B0604020202020204" pitchFamily="34" charset="0"/>
                <a:cs typeface="Arial" panose="020B0604020202020204" pitchFamily="34" charset="0"/>
              </a:rPr>
              <a:t>Localized Hosting</a:t>
            </a:r>
          </a:p>
        </p:txBody>
      </p:sp>
      <p:sp>
        <p:nvSpPr>
          <p:cNvPr id="13" name="TextBox 12"/>
          <p:cNvSpPr txBox="1"/>
          <p:nvPr/>
        </p:nvSpPr>
        <p:spPr>
          <a:xfrm>
            <a:off x="4282324" y="3543300"/>
            <a:ext cx="3627499" cy="1197700"/>
          </a:xfrm>
          <a:prstGeom prst="rect">
            <a:avLst/>
          </a:prstGeom>
          <a:noFill/>
        </p:spPr>
        <p:txBody>
          <a:bodyPr wrap="square" lIns="0" tIns="0" rIns="0" bIns="0" anchor="t">
            <a:spAutoFit/>
          </a:bodyPr>
          <a:lstStyle/>
          <a:p>
            <a:pPr algn="ctr">
              <a:lnSpc>
                <a:spcPts val="2400"/>
              </a:lnSpc>
            </a:pPr>
            <a:r>
              <a:rPr sz="1500" b="0" i="0" u="none" dirty="0">
                <a:solidFill>
                  <a:srgbClr val="44403C"/>
                </a:solidFill>
                <a:latin typeface="Arial" panose="020B0604020202020204" pitchFamily="34" charset="0"/>
                <a:cs typeface="Arial" panose="020B0604020202020204" pitchFamily="34" charset="0"/>
              </a:rPr>
              <a:t>Because of current infrastructure limits, </a:t>
            </a:r>
            <a:endParaRPr lang="en-US" sz="1500" b="0" i="0" u="none" dirty="0">
              <a:solidFill>
                <a:srgbClr val="44403C"/>
              </a:solidFill>
              <a:latin typeface="Arial" panose="020B0604020202020204" pitchFamily="34" charset="0"/>
              <a:cs typeface="Arial" panose="020B0604020202020204" pitchFamily="34" charset="0"/>
            </a:endParaRPr>
          </a:p>
          <a:p>
            <a:pPr algn="ctr">
              <a:lnSpc>
                <a:spcPts val="2400"/>
              </a:lnSpc>
            </a:pPr>
            <a:r>
              <a:rPr sz="1500" b="0" i="0" u="none" dirty="0">
                <a:solidFill>
                  <a:srgbClr val="44403C"/>
                </a:solidFill>
                <a:latin typeface="Arial" panose="020B0604020202020204" pitchFamily="34" charset="0"/>
                <a:cs typeface="Arial" panose="020B0604020202020204" pitchFamily="34" charset="0"/>
              </a:rPr>
              <a:t>we assumed the database operates on local MySQL instances, prioritizing local</a:t>
            </a:r>
            <a:endParaRPr lang="en-US" sz="1500" b="0" i="0" u="none" dirty="0">
              <a:solidFill>
                <a:srgbClr val="44403C"/>
              </a:solidFill>
              <a:latin typeface="Arial" panose="020B0604020202020204" pitchFamily="34" charset="0"/>
              <a:cs typeface="Arial" panose="020B0604020202020204" pitchFamily="34" charset="0"/>
            </a:endParaRPr>
          </a:p>
          <a:p>
            <a:pPr algn="ctr">
              <a:lnSpc>
                <a:spcPts val="2400"/>
              </a:lnSpc>
            </a:pPr>
            <a:r>
              <a:rPr sz="1500" b="0" i="0" u="none" dirty="0">
                <a:solidFill>
                  <a:srgbClr val="44403C"/>
                </a:solidFill>
                <a:latin typeface="Arial" panose="020B0604020202020204" pitchFamily="34" charset="0"/>
                <a:cs typeface="Arial" panose="020B0604020202020204" pitchFamily="34" charset="0"/>
              </a:rPr>
              <a:t> integrity over cloud scale initially.</a:t>
            </a:r>
          </a:p>
        </p:txBody>
      </p:sp>
      <p:sp>
        <p:nvSpPr>
          <p:cNvPr id="14" name="TextBox 13"/>
          <p:cNvSpPr txBox="1"/>
          <p:nvPr/>
        </p:nvSpPr>
        <p:spPr>
          <a:xfrm>
            <a:off x="8463656" y="3019425"/>
            <a:ext cx="2821285" cy="346249"/>
          </a:xfrm>
          <a:prstGeom prst="rect">
            <a:avLst/>
          </a:prstGeom>
          <a:noFill/>
        </p:spPr>
        <p:txBody>
          <a:bodyPr wrap="none" lIns="0" tIns="0" rIns="0" bIns="0" anchor="t">
            <a:spAutoFit/>
          </a:bodyPr>
          <a:lstStyle/>
          <a:p>
            <a:pPr algn="ctr"/>
            <a:r>
              <a:rPr sz="2250" b="1" i="0" u="none">
                <a:solidFill>
                  <a:srgbClr val="4C0519"/>
                </a:solidFill>
                <a:latin typeface="Arial" panose="020B0604020202020204" pitchFamily="34" charset="0"/>
                <a:cs typeface="Arial" panose="020B0604020202020204" pitchFamily="34" charset="0"/>
              </a:rPr>
              <a:t>Active Records Only</a:t>
            </a:r>
          </a:p>
        </p:txBody>
      </p:sp>
      <p:sp>
        <p:nvSpPr>
          <p:cNvPr id="15" name="TextBox 14"/>
          <p:cNvSpPr txBox="1"/>
          <p:nvPr/>
        </p:nvSpPr>
        <p:spPr>
          <a:xfrm>
            <a:off x="8060624" y="3543300"/>
            <a:ext cx="3627499" cy="1197700"/>
          </a:xfrm>
          <a:prstGeom prst="rect">
            <a:avLst/>
          </a:prstGeom>
          <a:noFill/>
        </p:spPr>
        <p:txBody>
          <a:bodyPr wrap="square" lIns="0" tIns="0" rIns="0" bIns="0" anchor="t">
            <a:spAutoFit/>
          </a:bodyPr>
          <a:lstStyle/>
          <a:p>
            <a:pPr algn="ctr">
              <a:lnSpc>
                <a:spcPts val="2400"/>
              </a:lnSpc>
            </a:pPr>
            <a:r>
              <a:rPr sz="1500" b="0" i="0" u="none" dirty="0">
                <a:solidFill>
                  <a:srgbClr val="44403C"/>
                </a:solidFill>
                <a:latin typeface="Arial" panose="020B0604020202020204" pitchFamily="34" charset="0"/>
                <a:cs typeface="Arial" panose="020B0604020202020204" pitchFamily="34" charset="0"/>
              </a:rPr>
              <a:t>To reduce query complexity and </a:t>
            </a:r>
            <a:endParaRPr lang="en-US" sz="1500" b="0" i="0" u="none" dirty="0">
              <a:solidFill>
                <a:srgbClr val="44403C"/>
              </a:solidFill>
              <a:latin typeface="Arial" panose="020B0604020202020204" pitchFamily="34" charset="0"/>
              <a:cs typeface="Arial" panose="020B0604020202020204" pitchFamily="34" charset="0"/>
            </a:endParaRPr>
          </a:p>
          <a:p>
            <a:pPr algn="ctr">
              <a:lnSpc>
                <a:spcPts val="2400"/>
              </a:lnSpc>
            </a:pPr>
            <a:r>
              <a:rPr sz="1500" b="0" i="0" u="none" dirty="0">
                <a:solidFill>
                  <a:srgbClr val="44403C"/>
                </a:solidFill>
                <a:latin typeface="Arial" panose="020B0604020202020204" pitchFamily="34" charset="0"/>
                <a:cs typeface="Arial" panose="020B0604020202020204" pitchFamily="34" charset="0"/>
              </a:rPr>
              <a:t>maintain performance, we assumed only active staff and current suppliers need real-time tracking in primary tables.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1"/>
            <a:ext cx="12192000" cy="6858000"/>
          </a:xfrm>
          <a:prstGeom prst="rect">
            <a:avLst/>
          </a:prstGeom>
        </p:spPr>
      </p:pic>
      <p:sp>
        <p:nvSpPr>
          <p:cNvPr id="4" name="TextBox 3"/>
          <p:cNvSpPr txBox="1"/>
          <p:nvPr/>
        </p:nvSpPr>
        <p:spPr>
          <a:xfrm>
            <a:off x="571500" y="571500"/>
            <a:ext cx="4845878" cy="667683"/>
          </a:xfrm>
          <a:prstGeom prst="rect">
            <a:avLst/>
          </a:prstGeom>
          <a:noFill/>
        </p:spPr>
        <p:txBody>
          <a:bodyPr wrap="none" lIns="0" tIns="0" rIns="0" bIns="0" anchor="t">
            <a:spAutoFit/>
          </a:bodyPr>
          <a:lstStyle/>
          <a:p>
            <a:pPr>
              <a:lnSpc>
                <a:spcPct val="150000"/>
              </a:lnSpc>
            </a:pPr>
            <a:r>
              <a:rPr sz="3300" b="1" i="0" u="none" dirty="0">
                <a:solidFill>
                  <a:srgbClr val="4C0519"/>
                </a:solidFill>
                <a:latin typeface="Arial" panose="020B0604020202020204" pitchFamily="34" charset="0"/>
                <a:cs typeface="Arial" panose="020B0604020202020204" pitchFamily="34" charset="0"/>
              </a:rPr>
              <a:t>Database Design &amp; ERD</a:t>
            </a:r>
          </a:p>
        </p:txBody>
      </p:sp>
      <p:sp>
        <p:nvSpPr>
          <p:cNvPr id="5" name="TextBox 4"/>
          <p:cNvSpPr txBox="1"/>
          <p:nvPr/>
        </p:nvSpPr>
        <p:spPr>
          <a:xfrm>
            <a:off x="571500" y="1514475"/>
            <a:ext cx="2853345" cy="455253"/>
          </a:xfrm>
          <a:prstGeom prst="rect">
            <a:avLst/>
          </a:prstGeom>
          <a:noFill/>
        </p:spPr>
        <p:txBody>
          <a:bodyPr wrap="none" lIns="0" tIns="0" rIns="0" bIns="0" anchor="t">
            <a:spAutoFit/>
          </a:bodyPr>
          <a:lstStyle/>
          <a:p>
            <a:pPr>
              <a:lnSpc>
                <a:spcPct val="150000"/>
              </a:lnSpc>
            </a:pPr>
            <a:r>
              <a:rPr sz="2250" b="1" i="0" u="none">
                <a:solidFill>
                  <a:srgbClr val="4C0519"/>
                </a:solidFill>
                <a:latin typeface="Arial" panose="020B0604020202020204" pitchFamily="34" charset="0"/>
                <a:cs typeface="Arial" panose="020B0604020202020204" pitchFamily="34" charset="0"/>
              </a:rPr>
              <a:t>Building the Schema</a:t>
            </a:r>
          </a:p>
        </p:txBody>
      </p:sp>
      <p:sp>
        <p:nvSpPr>
          <p:cNvPr id="7" name="TextBox 6"/>
          <p:cNvSpPr txBox="1"/>
          <p:nvPr/>
        </p:nvSpPr>
        <p:spPr>
          <a:xfrm>
            <a:off x="571500" y="3045136"/>
            <a:ext cx="4845877" cy="2222211"/>
          </a:xfrm>
          <a:prstGeom prst="rect">
            <a:avLst/>
          </a:prstGeom>
          <a:noFill/>
        </p:spPr>
        <p:txBody>
          <a:bodyPr wrap="square" lIns="0" tIns="0" rIns="0" bIns="0" anchor="t">
            <a:spAutoFit/>
          </a:bodyPr>
          <a:lstStyle/>
          <a:p>
            <a:pPr>
              <a:lnSpc>
                <a:spcPct val="150000"/>
              </a:lnSpc>
            </a:pPr>
            <a:r>
              <a:rPr sz="1400" b="0" i="0" u="none" dirty="0">
                <a:solidFill>
                  <a:srgbClr val="44403C"/>
                </a:solidFill>
                <a:latin typeface="Arial" panose="020B0604020202020204" pitchFamily="34" charset="0"/>
                <a:cs typeface="Arial" panose="020B0604020202020204" pitchFamily="34" charset="0"/>
              </a:rPr>
              <a:t>We normalized the tables to the Third Normal Form (3NF) to eliminate data redundancy. Foreign keys were strictly implemented to ensure referential integrity between operational departments and external partners.</a:t>
            </a:r>
            <a:r>
              <a:rPr lang="en-US" sz="1400" b="0" i="0" u="none" dirty="0">
                <a:solidFill>
                  <a:srgbClr val="44403C"/>
                </a:solidFill>
                <a:latin typeface="Arial" panose="020B0604020202020204" pitchFamily="34" charset="0"/>
                <a:cs typeface="Arial" panose="020B0604020202020204" pitchFamily="34" charset="0"/>
              </a:rPr>
              <a:t> We also e</a:t>
            </a:r>
            <a:r>
              <a:rPr lang="en-US" sz="1400" dirty="0">
                <a:latin typeface="Arial" panose="020B0604020202020204" pitchFamily="34" charset="0"/>
                <a:cs typeface="Arial" panose="020B0604020202020204" pitchFamily="34" charset="0"/>
              </a:rPr>
              <a:t>xtracted department attributes from EMPLOYEES into a dedicated DEPARTMENTS lookup table to achieve full 3NF compliance and eliminate redundancy.</a:t>
            </a:r>
            <a:endParaRPr sz="1400" b="0" i="0" u="none" dirty="0">
              <a:solidFill>
                <a:srgbClr val="44403C"/>
              </a:solidFill>
              <a:latin typeface="Arial" panose="020B0604020202020204" pitchFamily="34" charset="0"/>
              <a:cs typeface="Arial" panose="020B0604020202020204" pitchFamily="34" charset="0"/>
            </a:endParaRPr>
          </a:p>
        </p:txBody>
      </p:sp>
      <p:sp>
        <p:nvSpPr>
          <p:cNvPr id="8" name="TextBox 7"/>
          <p:cNvSpPr txBox="1"/>
          <p:nvPr/>
        </p:nvSpPr>
        <p:spPr>
          <a:xfrm>
            <a:off x="574708" y="5343525"/>
            <a:ext cx="4842670" cy="929550"/>
          </a:xfrm>
          <a:prstGeom prst="rect">
            <a:avLst/>
          </a:prstGeom>
          <a:noFill/>
        </p:spPr>
        <p:txBody>
          <a:bodyPr wrap="square" lIns="0" tIns="0" rIns="0" bIns="0" anchor="t">
            <a:spAutoFit/>
          </a:bodyPr>
          <a:lstStyle/>
          <a:p>
            <a:pPr>
              <a:lnSpc>
                <a:spcPct val="150000"/>
              </a:lnSpc>
            </a:pPr>
            <a:r>
              <a:rPr sz="1400" b="0" i="0" u="none" dirty="0">
                <a:solidFill>
                  <a:srgbClr val="44403C"/>
                </a:solidFill>
                <a:latin typeface="Arial" panose="020B0604020202020204" pitchFamily="34" charset="0"/>
                <a:cs typeface="Arial" panose="020B0604020202020204" pitchFamily="34" charset="0"/>
              </a:rPr>
              <a:t>This structural foundation allows complex reporting queries to run efficiently without data duplication or anomalous update errors.</a:t>
            </a:r>
          </a:p>
        </p:txBody>
      </p:sp>
      <p:sp>
        <p:nvSpPr>
          <p:cNvPr id="13" name="TextBox 12">
            <a:extLst>
              <a:ext uri="{FF2B5EF4-FFF2-40B4-BE49-F238E27FC236}">
                <a16:creationId xmlns:a16="http://schemas.microsoft.com/office/drawing/2014/main" id="{60B5DE73-A9FD-6005-E6EE-4865FE8893FB}"/>
              </a:ext>
            </a:extLst>
          </p:cNvPr>
          <p:cNvSpPr txBox="1"/>
          <p:nvPr/>
        </p:nvSpPr>
        <p:spPr>
          <a:xfrm>
            <a:off x="571499" y="2009798"/>
            <a:ext cx="4842669" cy="929550"/>
          </a:xfrm>
          <a:prstGeom prst="rect">
            <a:avLst/>
          </a:prstGeom>
          <a:noFill/>
        </p:spPr>
        <p:txBody>
          <a:bodyPr wrap="square" lIns="0" tIns="0" rIns="0" bIns="0" anchor="t">
            <a:spAutoFit/>
          </a:bodyPr>
          <a:lstStyle/>
          <a:p>
            <a:pPr>
              <a:lnSpc>
                <a:spcPct val="150000"/>
              </a:lnSpc>
            </a:pPr>
            <a:r>
              <a:rPr sz="1400" b="0" i="0" u="none" dirty="0">
                <a:solidFill>
                  <a:srgbClr val="44403C"/>
                </a:solidFill>
                <a:latin typeface="Arial" panose="020B0604020202020204" pitchFamily="34" charset="0"/>
                <a:cs typeface="Arial" panose="020B0604020202020204" pitchFamily="34" charset="0"/>
              </a:rPr>
              <a:t>Our process began with drafting an Entity Relationship Diagram (ERD) to map the flow between Suppliers, Production, Distributors, and Staff.</a:t>
            </a:r>
          </a:p>
        </p:txBody>
      </p:sp>
      <p:pic>
        <p:nvPicPr>
          <p:cNvPr id="9" name="Picture 8">
            <a:extLst>
              <a:ext uri="{FF2B5EF4-FFF2-40B4-BE49-F238E27FC236}">
                <a16:creationId xmlns:a16="http://schemas.microsoft.com/office/drawing/2014/main" id="{F0FFEE1E-26DC-2820-ADC0-0E33A7719975}"/>
              </a:ext>
            </a:extLst>
          </p:cNvPr>
          <p:cNvPicPr>
            <a:picLocks noChangeAspect="1"/>
          </p:cNvPicPr>
          <p:nvPr/>
        </p:nvPicPr>
        <p:blipFill>
          <a:blip r:embed="rId4"/>
          <a:stretch>
            <a:fillRect/>
          </a:stretch>
        </p:blipFill>
        <p:spPr>
          <a:xfrm>
            <a:off x="5525180" y="1182496"/>
            <a:ext cx="6552598" cy="449300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sp>
        <p:nvSpPr>
          <p:cNvPr id="3" name="TextBox 2"/>
          <p:cNvSpPr txBox="1"/>
          <p:nvPr/>
        </p:nvSpPr>
        <p:spPr>
          <a:xfrm>
            <a:off x="571500" y="571500"/>
            <a:ext cx="8130431" cy="507831"/>
          </a:xfrm>
          <a:prstGeom prst="rect">
            <a:avLst/>
          </a:prstGeom>
          <a:noFill/>
        </p:spPr>
        <p:txBody>
          <a:bodyPr wrap="none" lIns="0" tIns="0" rIns="0" bIns="0" anchor="t">
            <a:spAutoFit/>
          </a:bodyPr>
          <a:lstStyle/>
          <a:p>
            <a:pPr algn="l"/>
            <a:r>
              <a:rPr sz="3300" b="1" i="0" u="none" dirty="0">
                <a:solidFill>
                  <a:srgbClr val="4C0519"/>
                </a:solidFill>
                <a:latin typeface="Arial" panose="020B0604020202020204" pitchFamily="34" charset="0"/>
                <a:cs typeface="Arial" panose="020B0604020202020204" pitchFamily="34" charset="0"/>
              </a:rPr>
              <a:t>Generated Report</a:t>
            </a:r>
            <a:r>
              <a:rPr lang="en-US" sz="3300" b="1" i="0" u="none" dirty="0">
                <a:solidFill>
                  <a:srgbClr val="4C0519"/>
                </a:solidFill>
                <a:latin typeface="Arial" panose="020B0604020202020204" pitchFamily="34" charset="0"/>
                <a:cs typeface="Arial" panose="020B0604020202020204" pitchFamily="34" charset="0"/>
              </a:rPr>
              <a:t> 1</a:t>
            </a:r>
            <a:r>
              <a:rPr sz="3300" b="1" i="0" u="none" dirty="0">
                <a:solidFill>
                  <a:srgbClr val="4C0519"/>
                </a:solidFill>
                <a:latin typeface="Arial" panose="020B0604020202020204" pitchFamily="34" charset="0"/>
                <a:cs typeface="Arial" panose="020B0604020202020204" pitchFamily="34" charset="0"/>
              </a:rPr>
              <a:t>: Supplier Fulfillment</a:t>
            </a:r>
          </a:p>
        </p:txBody>
      </p:sp>
      <p:sp>
        <p:nvSpPr>
          <p:cNvPr id="4" name="TextBox 3"/>
          <p:cNvSpPr txBox="1"/>
          <p:nvPr/>
        </p:nvSpPr>
        <p:spPr>
          <a:xfrm>
            <a:off x="1998693" y="4048445"/>
            <a:ext cx="2694648" cy="1346522"/>
          </a:xfrm>
          <a:prstGeom prst="rect">
            <a:avLst/>
          </a:prstGeom>
          <a:noFill/>
        </p:spPr>
        <p:txBody>
          <a:bodyPr wrap="none" lIns="0" tIns="0" rIns="0" bIns="0" anchor="t">
            <a:spAutoFit/>
          </a:bodyPr>
          <a:lstStyle/>
          <a:p>
            <a:pPr algn="ctr">
              <a:lnSpc>
                <a:spcPts val="10500"/>
              </a:lnSpc>
            </a:pPr>
            <a:r>
              <a:rPr lang="en-US" sz="10500" b="1" i="0" u="none" dirty="0">
                <a:solidFill>
                  <a:srgbClr val="4C0519"/>
                </a:solidFill>
                <a:latin typeface="Arial" panose="020B0604020202020204" pitchFamily="34" charset="0"/>
                <a:cs typeface="Arial" panose="020B0604020202020204" pitchFamily="34" charset="0"/>
              </a:rPr>
              <a:t>50</a:t>
            </a:r>
            <a:r>
              <a:rPr sz="10500" b="1" i="0" u="none" dirty="0">
                <a:solidFill>
                  <a:srgbClr val="4C0519"/>
                </a:solidFill>
                <a:latin typeface="Arial" panose="020B0604020202020204" pitchFamily="34" charset="0"/>
                <a:cs typeface="Arial" panose="020B0604020202020204" pitchFamily="34" charset="0"/>
              </a:rPr>
              <a:t>%</a:t>
            </a:r>
          </a:p>
        </p:txBody>
      </p:sp>
      <p:sp>
        <p:nvSpPr>
          <p:cNvPr id="5" name="TextBox 4"/>
          <p:cNvSpPr txBox="1"/>
          <p:nvPr/>
        </p:nvSpPr>
        <p:spPr>
          <a:xfrm>
            <a:off x="2013762" y="5477195"/>
            <a:ext cx="2664511" cy="300082"/>
          </a:xfrm>
          <a:prstGeom prst="rect">
            <a:avLst/>
          </a:prstGeom>
          <a:noFill/>
        </p:spPr>
        <p:txBody>
          <a:bodyPr wrap="none" lIns="0" tIns="0" rIns="0" bIns="0" anchor="t">
            <a:spAutoFit/>
          </a:bodyPr>
          <a:lstStyle/>
          <a:p>
            <a:pPr algn="ctr"/>
            <a:r>
              <a:rPr sz="1950" b="1" i="0" u="none">
                <a:solidFill>
                  <a:srgbClr val="1E3A8A"/>
                </a:solidFill>
                <a:latin typeface="Arial" panose="020B0604020202020204" pitchFamily="34" charset="0"/>
                <a:cs typeface="Arial" panose="020B0604020202020204" pitchFamily="34" charset="0"/>
              </a:rPr>
              <a:t>On-Time Delivery Rate</a:t>
            </a:r>
          </a:p>
        </p:txBody>
      </p:sp>
      <p:sp>
        <p:nvSpPr>
          <p:cNvPr id="6" name="TextBox 5"/>
          <p:cNvSpPr txBox="1"/>
          <p:nvPr/>
        </p:nvSpPr>
        <p:spPr>
          <a:xfrm>
            <a:off x="6343650" y="3509017"/>
            <a:ext cx="3286156" cy="346249"/>
          </a:xfrm>
          <a:prstGeom prst="rect">
            <a:avLst/>
          </a:prstGeom>
          <a:noFill/>
        </p:spPr>
        <p:txBody>
          <a:bodyPr wrap="none" lIns="0" tIns="0" rIns="0" bIns="0" anchor="t">
            <a:spAutoFit/>
          </a:bodyPr>
          <a:lstStyle/>
          <a:p>
            <a:pPr algn="l"/>
            <a:r>
              <a:rPr sz="2250" b="1" i="0" u="none" dirty="0">
                <a:solidFill>
                  <a:srgbClr val="4C0519"/>
                </a:solidFill>
                <a:latin typeface="Arial" panose="020B0604020202020204" pitchFamily="34" charset="0"/>
                <a:cs typeface="Arial" panose="020B0604020202020204" pitchFamily="34" charset="0"/>
              </a:rPr>
              <a:t>Supply Chain Reliability</a:t>
            </a:r>
          </a:p>
        </p:txBody>
      </p:sp>
      <p:sp>
        <p:nvSpPr>
          <p:cNvPr id="7" name="TextBox 6"/>
          <p:cNvSpPr txBox="1"/>
          <p:nvPr/>
        </p:nvSpPr>
        <p:spPr>
          <a:xfrm>
            <a:off x="6096000" y="3930534"/>
            <a:ext cx="5553075" cy="1754326"/>
          </a:xfrm>
          <a:prstGeom prst="rect">
            <a:avLst/>
          </a:prstGeom>
          <a:noFill/>
        </p:spPr>
        <p:txBody>
          <a:bodyPr wrap="square" lIns="0" tIns="0" rIns="0" bIns="0" anchor="t">
            <a:spAutoFit/>
          </a:bodyPr>
          <a:lstStyle/>
          <a:p>
            <a:r>
              <a:rPr lang="en-US" sz="1600" dirty="0">
                <a:latin typeface="Arial" panose="020B0604020202020204" pitchFamily="34" charset="0"/>
                <a:cs typeface="Arial" panose="020B0604020202020204" pitchFamily="34" charset="0"/>
              </a:rPr>
              <a:t>We tested database reliability by tracking fulfillment variance across </a:t>
            </a:r>
            <a:r>
              <a:rPr lang="en-US" dirty="0" err="1">
                <a:latin typeface="Arial" panose="020B0604020202020204" pitchFamily="34" charset="0"/>
                <a:cs typeface="Arial" panose="020B0604020202020204" pitchFamily="34" charset="0"/>
              </a:rPr>
              <a:t>supply_orders</a:t>
            </a:r>
            <a:r>
              <a:rPr lang="en-US" sz="1600" dirty="0">
                <a:latin typeface="Arial" panose="020B0604020202020204" pitchFamily="34" charset="0"/>
                <a:cs typeface="Arial" panose="020B0604020202020204" pitchFamily="34" charset="0"/>
              </a:rPr>
              <a:t>. Delivery dates revealed delays for Oak Barrel Co. (+5 days) and Glass &amp; Bottle Inc. (+3 days), alongside on-time and early deliveries from Cork &amp; Closure (-1 day). Automating these variance metrics eliminates ambiguity and provides actionable data for vendor evaluations.</a:t>
            </a:r>
            <a:endParaRPr sz="1600" b="0" i="0" u="none" dirty="0">
              <a:solidFill>
                <a:srgbClr val="44403C"/>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AD003921-EF67-A34B-8DA9-58E156770ADE}"/>
              </a:ext>
            </a:extLst>
          </p:cNvPr>
          <p:cNvPicPr>
            <a:picLocks noChangeAspect="1"/>
          </p:cNvPicPr>
          <p:nvPr/>
        </p:nvPicPr>
        <p:blipFill>
          <a:blip r:embed="rId3"/>
          <a:stretch>
            <a:fillRect/>
          </a:stretch>
        </p:blipFill>
        <p:spPr>
          <a:xfrm>
            <a:off x="571491" y="1215759"/>
            <a:ext cx="11049018" cy="215682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image.png">
            <a:extLst>
              <a:ext uri="{FF2B5EF4-FFF2-40B4-BE49-F238E27FC236}">
                <a16:creationId xmlns:a16="http://schemas.microsoft.com/office/drawing/2014/main" id="{332455AC-E107-D123-71A6-ED422149730C}"/>
              </a:ext>
            </a:extLst>
          </p:cNvPr>
          <p:cNvPicPr>
            <a:picLocks noChangeAspect="1"/>
          </p:cNvPicPr>
          <p:nvPr/>
        </p:nvPicPr>
        <p:blipFill>
          <a:blip r:embed="rId3"/>
          <a:stretch>
            <a:fillRect/>
          </a:stretch>
        </p:blipFill>
        <p:spPr>
          <a:xfrm>
            <a:off x="0" y="0"/>
            <a:ext cx="12192000" cy="6858000"/>
          </a:xfrm>
          <a:prstGeom prst="rect">
            <a:avLst/>
          </a:prstGeom>
        </p:spPr>
      </p:pic>
      <p:sp>
        <p:nvSpPr>
          <p:cNvPr id="8" name="Rounded Rectangle 2">
            <a:extLst>
              <a:ext uri="{FF2B5EF4-FFF2-40B4-BE49-F238E27FC236}">
                <a16:creationId xmlns:a16="http://schemas.microsoft.com/office/drawing/2014/main" id="{678AFE4E-588D-FA3A-EF0E-3B646C5931CF}"/>
              </a:ext>
            </a:extLst>
          </p:cNvPr>
          <p:cNvSpPr/>
          <p:nvPr/>
        </p:nvSpPr>
        <p:spPr>
          <a:xfrm>
            <a:off x="571500" y="1724025"/>
            <a:ext cx="11049000" cy="3986212"/>
          </a:xfrm>
          <a:prstGeom prst="roundRect">
            <a:avLst>
              <a:gd name="adj" fmla="val 2867"/>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9F58A8F8-2505-B842-A908-F65B65335E55}"/>
              </a:ext>
            </a:extLst>
          </p:cNvPr>
          <p:cNvSpPr/>
          <p:nvPr/>
        </p:nvSpPr>
        <p:spPr>
          <a:xfrm>
            <a:off x="571500" y="5900737"/>
            <a:ext cx="11049000" cy="481012"/>
          </a:xfrm>
          <a:prstGeom prst="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1E05CED5-E35D-FBB5-F8D7-F3F839849F8F}"/>
              </a:ext>
            </a:extLst>
          </p:cNvPr>
          <p:cNvSpPr/>
          <p:nvPr/>
        </p:nvSpPr>
        <p:spPr>
          <a:xfrm>
            <a:off x="571500" y="5900737"/>
            <a:ext cx="38100" cy="481012"/>
          </a:xfrm>
          <a:prstGeom prst="rect">
            <a:avLst/>
          </a:prstGeom>
          <a:solidFill>
            <a:srgbClr val="4C05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4" name="Rounded Rectangle 5">
            <a:extLst>
              <a:ext uri="{FF2B5EF4-FFF2-40B4-BE49-F238E27FC236}">
                <a16:creationId xmlns:a16="http://schemas.microsoft.com/office/drawing/2014/main" id="{A725AFAB-B602-A564-75CF-8B76ADA6A8C8}"/>
              </a:ext>
            </a:extLst>
          </p:cNvPr>
          <p:cNvSpPr/>
          <p:nvPr/>
        </p:nvSpPr>
        <p:spPr>
          <a:xfrm>
            <a:off x="2981325" y="2840831"/>
            <a:ext cx="8324850" cy="266700"/>
          </a:xfrm>
          <a:prstGeom prst="roundRect">
            <a:avLst>
              <a:gd name="adj" fmla="val 21428"/>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6" name="Rounded Rectangle 6">
            <a:extLst>
              <a:ext uri="{FF2B5EF4-FFF2-40B4-BE49-F238E27FC236}">
                <a16:creationId xmlns:a16="http://schemas.microsoft.com/office/drawing/2014/main" id="{CB620F23-9A39-44E2-A6DA-F11B97BA1F06}"/>
              </a:ext>
            </a:extLst>
          </p:cNvPr>
          <p:cNvSpPr/>
          <p:nvPr/>
        </p:nvSpPr>
        <p:spPr>
          <a:xfrm>
            <a:off x="2981325" y="3336131"/>
            <a:ext cx="8324850" cy="266700"/>
          </a:xfrm>
          <a:prstGeom prst="roundRect">
            <a:avLst>
              <a:gd name="adj" fmla="val 21428"/>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8" name="Rounded Rectangle 7">
            <a:extLst>
              <a:ext uri="{FF2B5EF4-FFF2-40B4-BE49-F238E27FC236}">
                <a16:creationId xmlns:a16="http://schemas.microsoft.com/office/drawing/2014/main" id="{AB41AFCF-ABC5-EF0D-F7E0-641180773E36}"/>
              </a:ext>
            </a:extLst>
          </p:cNvPr>
          <p:cNvSpPr/>
          <p:nvPr/>
        </p:nvSpPr>
        <p:spPr>
          <a:xfrm>
            <a:off x="2981325" y="3831431"/>
            <a:ext cx="8324850" cy="266700"/>
          </a:xfrm>
          <a:prstGeom prst="roundRect">
            <a:avLst>
              <a:gd name="adj" fmla="val 21428"/>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0" name="Rounded Rectangle 8">
            <a:extLst>
              <a:ext uri="{FF2B5EF4-FFF2-40B4-BE49-F238E27FC236}">
                <a16:creationId xmlns:a16="http://schemas.microsoft.com/office/drawing/2014/main" id="{FE440083-9BB8-EE3A-1BEE-95C65D4A7D2A}"/>
              </a:ext>
            </a:extLst>
          </p:cNvPr>
          <p:cNvSpPr/>
          <p:nvPr/>
        </p:nvSpPr>
        <p:spPr>
          <a:xfrm>
            <a:off x="2981325" y="4326731"/>
            <a:ext cx="8324850" cy="266700"/>
          </a:xfrm>
          <a:prstGeom prst="roundRect">
            <a:avLst>
              <a:gd name="adj" fmla="val 21428"/>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2" name="Rounded Rectangle 9">
            <a:extLst>
              <a:ext uri="{FF2B5EF4-FFF2-40B4-BE49-F238E27FC236}">
                <a16:creationId xmlns:a16="http://schemas.microsoft.com/office/drawing/2014/main" id="{E55D0A12-BCC2-E41C-86D4-24490370A079}"/>
              </a:ext>
            </a:extLst>
          </p:cNvPr>
          <p:cNvSpPr/>
          <p:nvPr/>
        </p:nvSpPr>
        <p:spPr>
          <a:xfrm>
            <a:off x="2981325" y="2840831"/>
            <a:ext cx="6659760" cy="266700"/>
          </a:xfrm>
          <a:prstGeom prst="roundRect">
            <a:avLst>
              <a:gd name="adj" fmla="val 21428"/>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4" name="Rounded Rectangle 10">
            <a:extLst>
              <a:ext uri="{FF2B5EF4-FFF2-40B4-BE49-F238E27FC236}">
                <a16:creationId xmlns:a16="http://schemas.microsoft.com/office/drawing/2014/main" id="{32F4AFF2-A4BF-4551-AE2B-1BB43831E365}"/>
              </a:ext>
            </a:extLst>
          </p:cNvPr>
          <p:cNvSpPr/>
          <p:nvPr/>
        </p:nvSpPr>
        <p:spPr>
          <a:xfrm>
            <a:off x="2981325" y="3336131"/>
            <a:ext cx="4994820" cy="266700"/>
          </a:xfrm>
          <a:prstGeom prst="roundRect">
            <a:avLst>
              <a:gd name="adj" fmla="val 21428"/>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6" name="Rounded Rectangle 11">
            <a:extLst>
              <a:ext uri="{FF2B5EF4-FFF2-40B4-BE49-F238E27FC236}">
                <a16:creationId xmlns:a16="http://schemas.microsoft.com/office/drawing/2014/main" id="{C3F97C4E-10F1-9718-EE72-F36620A42469}"/>
              </a:ext>
            </a:extLst>
          </p:cNvPr>
          <p:cNvSpPr/>
          <p:nvPr/>
        </p:nvSpPr>
        <p:spPr>
          <a:xfrm>
            <a:off x="2981325" y="3831431"/>
            <a:ext cx="2081212" cy="266700"/>
          </a:xfrm>
          <a:prstGeom prst="roundRect">
            <a:avLst>
              <a:gd name="adj" fmla="val 21428"/>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8" name="Rounded Rectangle 12">
            <a:extLst>
              <a:ext uri="{FF2B5EF4-FFF2-40B4-BE49-F238E27FC236}">
                <a16:creationId xmlns:a16="http://schemas.microsoft.com/office/drawing/2014/main" id="{4E83D257-EAD7-C0A7-BBC4-082E3C271F4D}"/>
              </a:ext>
            </a:extLst>
          </p:cNvPr>
          <p:cNvSpPr/>
          <p:nvPr/>
        </p:nvSpPr>
        <p:spPr>
          <a:xfrm>
            <a:off x="2981325" y="4326731"/>
            <a:ext cx="1248667" cy="266700"/>
          </a:xfrm>
          <a:prstGeom prst="roundRect">
            <a:avLst>
              <a:gd name="adj" fmla="val 21428"/>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pic>
        <p:nvPicPr>
          <p:cNvPr id="30" name="Picture 29" descr="image.png">
            <a:extLst>
              <a:ext uri="{FF2B5EF4-FFF2-40B4-BE49-F238E27FC236}">
                <a16:creationId xmlns:a16="http://schemas.microsoft.com/office/drawing/2014/main" id="{75D936E5-7B30-EED2-49F5-8F7D9427BD03}"/>
              </a:ext>
            </a:extLst>
          </p:cNvPr>
          <p:cNvPicPr>
            <a:picLocks noChangeAspect="1"/>
          </p:cNvPicPr>
          <p:nvPr/>
        </p:nvPicPr>
        <p:blipFill>
          <a:blip r:embed="rId4"/>
          <a:stretch>
            <a:fillRect/>
          </a:stretch>
        </p:blipFill>
        <p:spPr>
          <a:xfrm>
            <a:off x="800100" y="6045993"/>
            <a:ext cx="190500" cy="190500"/>
          </a:xfrm>
          <a:prstGeom prst="rect">
            <a:avLst/>
          </a:prstGeom>
        </p:spPr>
      </p:pic>
      <p:sp>
        <p:nvSpPr>
          <p:cNvPr id="32" name="TextBox 31">
            <a:extLst>
              <a:ext uri="{FF2B5EF4-FFF2-40B4-BE49-F238E27FC236}">
                <a16:creationId xmlns:a16="http://schemas.microsoft.com/office/drawing/2014/main" id="{AD2AB14C-6C2A-3D1A-A0C3-B2E9936F8846}"/>
              </a:ext>
            </a:extLst>
          </p:cNvPr>
          <p:cNvSpPr txBox="1"/>
          <p:nvPr/>
        </p:nvSpPr>
        <p:spPr>
          <a:xfrm>
            <a:off x="571500" y="476250"/>
            <a:ext cx="8016297" cy="438582"/>
          </a:xfrm>
          <a:prstGeom prst="rect">
            <a:avLst/>
          </a:prstGeom>
          <a:noFill/>
        </p:spPr>
        <p:txBody>
          <a:bodyPr wrap="none" lIns="0" tIns="0" rIns="0" bIns="0" anchor="t">
            <a:spAutoFit/>
          </a:bodyPr>
          <a:lstStyle/>
          <a:p>
            <a:pPr algn="l"/>
            <a:r>
              <a:rPr sz="2850" b="1" i="0" u="none">
                <a:solidFill>
                  <a:srgbClr val="4C0519"/>
                </a:solidFill>
                <a:latin typeface="Arial" panose="020B0604020202020204" pitchFamily="34" charset="0"/>
                <a:cs typeface="Arial" panose="020B0604020202020204" pitchFamily="34" charset="0"/>
              </a:rPr>
              <a:t>Visual Analytics: Supplier Fulfillment Variance</a:t>
            </a:r>
          </a:p>
        </p:txBody>
      </p:sp>
      <p:sp>
        <p:nvSpPr>
          <p:cNvPr id="34" name="TextBox 33">
            <a:extLst>
              <a:ext uri="{FF2B5EF4-FFF2-40B4-BE49-F238E27FC236}">
                <a16:creationId xmlns:a16="http://schemas.microsoft.com/office/drawing/2014/main" id="{B5804DBD-8F82-99CC-6B10-2EF00F95065B}"/>
              </a:ext>
            </a:extLst>
          </p:cNvPr>
          <p:cNvSpPr txBox="1"/>
          <p:nvPr/>
        </p:nvSpPr>
        <p:spPr>
          <a:xfrm>
            <a:off x="571500" y="1190625"/>
            <a:ext cx="5379678" cy="208199"/>
          </a:xfrm>
          <a:prstGeom prst="rect">
            <a:avLst/>
          </a:prstGeom>
          <a:noFill/>
        </p:spPr>
        <p:txBody>
          <a:bodyPr wrap="none" lIns="0" tIns="0" rIns="0" bIns="0" anchor="t">
            <a:spAutoFit/>
          </a:bodyPr>
          <a:lstStyle/>
          <a:p>
            <a:pPr algn="l">
              <a:lnSpc>
                <a:spcPts val="1800"/>
              </a:lnSpc>
            </a:pPr>
            <a:r>
              <a:rPr sz="1200" b="0" i="0" u="none">
                <a:solidFill>
                  <a:srgbClr val="57534E"/>
                </a:solidFill>
                <a:latin typeface="Arial" panose="020B0604020202020204" pitchFamily="34" charset="0"/>
                <a:cs typeface="Arial" panose="020B0604020202020204" pitchFamily="34" charset="0"/>
              </a:rPr>
              <a:t>Addressing feedback by visualizing vendor delivery timelines across Q3 orders.</a:t>
            </a:r>
          </a:p>
        </p:txBody>
      </p:sp>
      <p:sp>
        <p:nvSpPr>
          <p:cNvPr id="36" name="TextBox 35">
            <a:extLst>
              <a:ext uri="{FF2B5EF4-FFF2-40B4-BE49-F238E27FC236}">
                <a16:creationId xmlns:a16="http://schemas.microsoft.com/office/drawing/2014/main" id="{3BB6D5CA-A459-3E7E-7404-671C084A1BDB}"/>
              </a:ext>
            </a:extLst>
          </p:cNvPr>
          <p:cNvSpPr txBox="1"/>
          <p:nvPr/>
        </p:nvSpPr>
        <p:spPr>
          <a:xfrm>
            <a:off x="1143000" y="6034087"/>
            <a:ext cx="8407751" cy="196336"/>
          </a:xfrm>
          <a:prstGeom prst="rect">
            <a:avLst/>
          </a:prstGeom>
          <a:noFill/>
        </p:spPr>
        <p:txBody>
          <a:bodyPr wrap="none" lIns="0" tIns="0" rIns="0" bIns="0" anchor="t">
            <a:spAutoFit/>
          </a:bodyPr>
          <a:lstStyle/>
          <a:p>
            <a:pPr algn="l">
              <a:lnSpc>
                <a:spcPts val="1687"/>
              </a:lnSpc>
            </a:pPr>
            <a:r>
              <a:rPr sz="1125" b="1" i="0" u="none">
                <a:solidFill>
                  <a:srgbClr val="4C0519"/>
                </a:solidFill>
                <a:latin typeface="Arial" panose="020B0604020202020204" pitchFamily="34" charset="0"/>
                <a:cs typeface="Arial" panose="020B0604020202020204" pitchFamily="34" charset="0"/>
              </a:rPr>
              <a:t>Visual metric breakdown highlights vendor risk, giving supply management clear data for upcoming contract negotiations.</a:t>
            </a:r>
          </a:p>
        </p:txBody>
      </p:sp>
      <p:sp>
        <p:nvSpPr>
          <p:cNvPr id="38" name="TextBox 37">
            <a:extLst>
              <a:ext uri="{FF2B5EF4-FFF2-40B4-BE49-F238E27FC236}">
                <a16:creationId xmlns:a16="http://schemas.microsoft.com/office/drawing/2014/main" id="{C06DC87A-BCF5-F9D0-C93D-2C5C781378CE}"/>
              </a:ext>
            </a:extLst>
          </p:cNvPr>
          <p:cNvSpPr txBox="1"/>
          <p:nvPr/>
        </p:nvSpPr>
        <p:spPr>
          <a:xfrm>
            <a:off x="885825" y="2883693"/>
            <a:ext cx="1553310" cy="184666"/>
          </a:xfrm>
          <a:prstGeom prst="rect">
            <a:avLst/>
          </a:prstGeom>
          <a:noFill/>
        </p:spPr>
        <p:txBody>
          <a:bodyPr wrap="none" lIns="0" tIns="0" rIns="0" bIns="0" anchor="t">
            <a:spAutoFit/>
          </a:bodyPr>
          <a:lstStyle/>
          <a:p>
            <a:pPr algn="l"/>
            <a:r>
              <a:rPr sz="1200" b="1" i="0" u="none">
                <a:solidFill>
                  <a:srgbClr val="4C0519"/>
                </a:solidFill>
                <a:latin typeface="Arial" panose="020B0604020202020204" pitchFamily="34" charset="0"/>
                <a:cs typeface="Arial" panose="020B0604020202020204" pitchFamily="34" charset="0"/>
              </a:rPr>
              <a:t>Oak Barrel Co. (#104)</a:t>
            </a:r>
          </a:p>
        </p:txBody>
      </p:sp>
      <p:sp>
        <p:nvSpPr>
          <p:cNvPr id="40" name="TextBox 39">
            <a:extLst>
              <a:ext uri="{FF2B5EF4-FFF2-40B4-BE49-F238E27FC236}">
                <a16:creationId xmlns:a16="http://schemas.microsoft.com/office/drawing/2014/main" id="{90A749AB-ACD3-2B7B-8271-AB9B15C8655C}"/>
              </a:ext>
            </a:extLst>
          </p:cNvPr>
          <p:cNvSpPr txBox="1"/>
          <p:nvPr/>
        </p:nvSpPr>
        <p:spPr>
          <a:xfrm>
            <a:off x="885825" y="3378993"/>
            <a:ext cx="1846659" cy="184666"/>
          </a:xfrm>
          <a:prstGeom prst="rect">
            <a:avLst/>
          </a:prstGeom>
          <a:noFill/>
        </p:spPr>
        <p:txBody>
          <a:bodyPr wrap="none" lIns="0" tIns="0" rIns="0" bIns="0" anchor="t">
            <a:spAutoFit/>
          </a:bodyPr>
          <a:lstStyle/>
          <a:p>
            <a:pPr algn="l"/>
            <a:r>
              <a:rPr sz="1200" b="1" i="0" u="none">
                <a:solidFill>
                  <a:srgbClr val="4C0519"/>
                </a:solidFill>
                <a:latin typeface="Arial" panose="020B0604020202020204" pitchFamily="34" charset="0"/>
                <a:cs typeface="Arial" panose="020B0604020202020204" pitchFamily="34" charset="0"/>
              </a:rPr>
              <a:t>Glass &amp; Bottle Inc. (#102)</a:t>
            </a:r>
          </a:p>
        </p:txBody>
      </p:sp>
      <p:sp>
        <p:nvSpPr>
          <p:cNvPr id="42" name="TextBox 41">
            <a:extLst>
              <a:ext uri="{FF2B5EF4-FFF2-40B4-BE49-F238E27FC236}">
                <a16:creationId xmlns:a16="http://schemas.microsoft.com/office/drawing/2014/main" id="{BB9B4D4B-8634-AE5A-1B19-F04FBFEF79BB}"/>
              </a:ext>
            </a:extLst>
          </p:cNvPr>
          <p:cNvSpPr txBox="1"/>
          <p:nvPr/>
        </p:nvSpPr>
        <p:spPr>
          <a:xfrm>
            <a:off x="885825" y="3874293"/>
            <a:ext cx="1553310" cy="184666"/>
          </a:xfrm>
          <a:prstGeom prst="rect">
            <a:avLst/>
          </a:prstGeom>
          <a:noFill/>
        </p:spPr>
        <p:txBody>
          <a:bodyPr wrap="none" lIns="0" tIns="0" rIns="0" bIns="0" anchor="t">
            <a:spAutoFit/>
          </a:bodyPr>
          <a:lstStyle/>
          <a:p>
            <a:pPr algn="l"/>
            <a:r>
              <a:rPr sz="1200" b="1" i="0" u="none">
                <a:solidFill>
                  <a:srgbClr val="4C0519"/>
                </a:solidFill>
                <a:latin typeface="Arial" panose="020B0604020202020204" pitchFamily="34" charset="0"/>
                <a:cs typeface="Arial" panose="020B0604020202020204" pitchFamily="34" charset="0"/>
              </a:rPr>
              <a:t>Oak Barrel Co. (#101)</a:t>
            </a:r>
          </a:p>
        </p:txBody>
      </p:sp>
      <p:sp>
        <p:nvSpPr>
          <p:cNvPr id="44" name="TextBox 43">
            <a:extLst>
              <a:ext uri="{FF2B5EF4-FFF2-40B4-BE49-F238E27FC236}">
                <a16:creationId xmlns:a16="http://schemas.microsoft.com/office/drawing/2014/main" id="{825AC0DC-BC73-6240-89F6-3C5802E6EC7F}"/>
              </a:ext>
            </a:extLst>
          </p:cNvPr>
          <p:cNvSpPr txBox="1"/>
          <p:nvPr/>
        </p:nvSpPr>
        <p:spPr>
          <a:xfrm>
            <a:off x="885825" y="4369593"/>
            <a:ext cx="1604606" cy="184666"/>
          </a:xfrm>
          <a:prstGeom prst="rect">
            <a:avLst/>
          </a:prstGeom>
          <a:noFill/>
        </p:spPr>
        <p:txBody>
          <a:bodyPr wrap="none" lIns="0" tIns="0" rIns="0" bIns="0" anchor="t">
            <a:spAutoFit/>
          </a:bodyPr>
          <a:lstStyle/>
          <a:p>
            <a:pPr algn="l"/>
            <a:r>
              <a:rPr sz="1200" b="1" i="0" u="none">
                <a:solidFill>
                  <a:srgbClr val="4C0519"/>
                </a:solidFill>
                <a:latin typeface="Arial" panose="020B0604020202020204" pitchFamily="34" charset="0"/>
                <a:cs typeface="Arial" panose="020B0604020202020204" pitchFamily="34" charset="0"/>
              </a:rPr>
              <a:t>Cork &amp; Closure (#103)</a:t>
            </a:r>
          </a:p>
        </p:txBody>
      </p:sp>
      <p:sp>
        <p:nvSpPr>
          <p:cNvPr id="46" name="TextBox 45">
            <a:extLst>
              <a:ext uri="{FF2B5EF4-FFF2-40B4-BE49-F238E27FC236}">
                <a16:creationId xmlns:a16="http://schemas.microsoft.com/office/drawing/2014/main" id="{05EDBFC1-9E6D-27C2-5206-051254232586}"/>
              </a:ext>
            </a:extLst>
          </p:cNvPr>
          <p:cNvSpPr txBox="1"/>
          <p:nvPr/>
        </p:nvSpPr>
        <p:spPr>
          <a:xfrm>
            <a:off x="2981325" y="2899160"/>
            <a:ext cx="6640710" cy="150041"/>
          </a:xfrm>
          <a:prstGeom prst="rect">
            <a:avLst/>
          </a:prstGeom>
          <a:noFill/>
        </p:spPr>
        <p:txBody>
          <a:bodyPr wrap="square" lIns="0" tIns="0" rIns="0" bIns="0" anchor="ctr">
            <a:spAutoFit/>
          </a:bodyPr>
          <a:lstStyle/>
          <a:p>
            <a:pPr algn="l"/>
            <a:r>
              <a:rPr sz="975" b="1" i="0" u="none">
                <a:solidFill>
                  <a:srgbClr val="FFFFFF"/>
                </a:solidFill>
                <a:latin typeface="Arial" panose="020B0604020202020204" pitchFamily="34" charset="0"/>
                <a:cs typeface="Arial" panose="020B0604020202020204" pitchFamily="34" charset="0"/>
              </a:rPr>
              <a:t>+5 Days Late</a:t>
            </a:r>
          </a:p>
        </p:txBody>
      </p:sp>
      <p:sp>
        <p:nvSpPr>
          <p:cNvPr id="48" name="TextBox 47">
            <a:extLst>
              <a:ext uri="{FF2B5EF4-FFF2-40B4-BE49-F238E27FC236}">
                <a16:creationId xmlns:a16="http://schemas.microsoft.com/office/drawing/2014/main" id="{BF950643-70DF-5D29-F368-47DCAB5FB088}"/>
              </a:ext>
            </a:extLst>
          </p:cNvPr>
          <p:cNvSpPr txBox="1"/>
          <p:nvPr/>
        </p:nvSpPr>
        <p:spPr>
          <a:xfrm>
            <a:off x="2981325" y="3394460"/>
            <a:ext cx="4975770" cy="150041"/>
          </a:xfrm>
          <a:prstGeom prst="rect">
            <a:avLst/>
          </a:prstGeom>
          <a:noFill/>
        </p:spPr>
        <p:txBody>
          <a:bodyPr wrap="square" lIns="0" tIns="0" rIns="0" bIns="0" anchor="ctr">
            <a:spAutoFit/>
          </a:bodyPr>
          <a:lstStyle/>
          <a:p>
            <a:pPr algn="l"/>
            <a:r>
              <a:rPr sz="975" b="1" i="0" u="none">
                <a:solidFill>
                  <a:srgbClr val="F8FAFC"/>
                </a:solidFill>
                <a:latin typeface="Arial" panose="020B0604020202020204" pitchFamily="34" charset="0"/>
                <a:cs typeface="Arial" panose="020B0604020202020204" pitchFamily="34" charset="0"/>
              </a:rPr>
              <a:t>+3 Days Late</a:t>
            </a:r>
          </a:p>
        </p:txBody>
      </p:sp>
      <p:sp>
        <p:nvSpPr>
          <p:cNvPr id="50" name="TextBox 49">
            <a:extLst>
              <a:ext uri="{FF2B5EF4-FFF2-40B4-BE49-F238E27FC236}">
                <a16:creationId xmlns:a16="http://schemas.microsoft.com/office/drawing/2014/main" id="{65005AEA-3C2F-91D2-4A0A-339AAA0728A6}"/>
              </a:ext>
            </a:extLst>
          </p:cNvPr>
          <p:cNvSpPr txBox="1"/>
          <p:nvPr/>
        </p:nvSpPr>
        <p:spPr>
          <a:xfrm>
            <a:off x="2981325" y="3889760"/>
            <a:ext cx="2062162" cy="150041"/>
          </a:xfrm>
          <a:prstGeom prst="rect">
            <a:avLst/>
          </a:prstGeom>
          <a:noFill/>
        </p:spPr>
        <p:txBody>
          <a:bodyPr wrap="square" lIns="0" tIns="0" rIns="0" bIns="0" anchor="ctr">
            <a:spAutoFit/>
          </a:bodyPr>
          <a:lstStyle/>
          <a:p>
            <a:pPr algn="l"/>
            <a:r>
              <a:rPr sz="975" b="1" i="0" u="none">
                <a:solidFill>
                  <a:srgbClr val="F8FAFC"/>
                </a:solidFill>
                <a:latin typeface="Arial" panose="020B0604020202020204" pitchFamily="34" charset="0"/>
                <a:cs typeface="Arial" panose="020B0604020202020204" pitchFamily="34" charset="0"/>
              </a:rPr>
              <a:t>On Time</a:t>
            </a:r>
          </a:p>
        </p:txBody>
      </p:sp>
      <p:sp>
        <p:nvSpPr>
          <p:cNvPr id="52" name="TextBox 51">
            <a:extLst>
              <a:ext uri="{FF2B5EF4-FFF2-40B4-BE49-F238E27FC236}">
                <a16:creationId xmlns:a16="http://schemas.microsoft.com/office/drawing/2014/main" id="{3957D11D-DE9A-7870-726A-A7A3E2999B8C}"/>
              </a:ext>
            </a:extLst>
          </p:cNvPr>
          <p:cNvSpPr txBox="1"/>
          <p:nvPr/>
        </p:nvSpPr>
        <p:spPr>
          <a:xfrm>
            <a:off x="2981325" y="4385060"/>
            <a:ext cx="1229617" cy="150041"/>
          </a:xfrm>
          <a:prstGeom prst="rect">
            <a:avLst/>
          </a:prstGeom>
          <a:noFill/>
        </p:spPr>
        <p:txBody>
          <a:bodyPr wrap="square" lIns="0" tIns="0" rIns="0" bIns="0" anchor="ctr">
            <a:spAutoFit/>
          </a:bodyPr>
          <a:lstStyle/>
          <a:p>
            <a:pPr algn="l"/>
            <a:r>
              <a:rPr sz="975" b="1" i="0" u="none">
                <a:solidFill>
                  <a:srgbClr val="FFFFFF"/>
                </a:solidFill>
                <a:latin typeface="Arial" panose="020B0604020202020204" pitchFamily="34" charset="0"/>
                <a:cs typeface="Arial" panose="020B0604020202020204" pitchFamily="34" charset="0"/>
              </a:rPr>
              <a:t>-1 Day Early</a:t>
            </a:r>
          </a:p>
        </p:txBody>
      </p:sp>
    </p:spTree>
    <p:extLst>
      <p:ext uri="{BB962C8B-B14F-4D97-AF65-F5344CB8AC3E}">
        <p14:creationId xmlns:p14="http://schemas.microsoft.com/office/powerpoint/2010/main" val="1503443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sp>
        <p:nvSpPr>
          <p:cNvPr id="3" name="Rectangle 2"/>
          <p:cNvSpPr/>
          <p:nvPr/>
        </p:nvSpPr>
        <p:spPr>
          <a:xfrm>
            <a:off x="571500" y="2178546"/>
            <a:ext cx="3007072" cy="9525"/>
          </a:xfrm>
          <a:prstGeom prst="rect">
            <a:avLst/>
          </a:prstGeom>
          <a:solidFill>
            <a:srgbClr val="E7E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4" name="Rectangle 3"/>
          <p:cNvSpPr/>
          <p:nvPr/>
        </p:nvSpPr>
        <p:spPr>
          <a:xfrm>
            <a:off x="3578572" y="2178546"/>
            <a:ext cx="2605385" cy="9525"/>
          </a:xfrm>
          <a:prstGeom prst="rect">
            <a:avLst/>
          </a:prstGeom>
          <a:solidFill>
            <a:srgbClr val="E7E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5" name="Rectangle 4"/>
          <p:cNvSpPr/>
          <p:nvPr/>
        </p:nvSpPr>
        <p:spPr>
          <a:xfrm>
            <a:off x="6183957" y="2178546"/>
            <a:ext cx="2135237" cy="9525"/>
          </a:xfrm>
          <a:prstGeom prst="rect">
            <a:avLst/>
          </a:prstGeom>
          <a:solidFill>
            <a:srgbClr val="E7E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6" name="Rectangle 5"/>
          <p:cNvSpPr/>
          <p:nvPr/>
        </p:nvSpPr>
        <p:spPr>
          <a:xfrm>
            <a:off x="8319194" y="2178546"/>
            <a:ext cx="3301305" cy="9525"/>
          </a:xfrm>
          <a:prstGeom prst="rect">
            <a:avLst/>
          </a:prstGeom>
          <a:solidFill>
            <a:srgbClr val="E7E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2" name="TextBox 21"/>
          <p:cNvSpPr txBox="1"/>
          <p:nvPr/>
        </p:nvSpPr>
        <p:spPr>
          <a:xfrm>
            <a:off x="571500" y="486072"/>
            <a:ext cx="7806624" cy="507831"/>
          </a:xfrm>
          <a:prstGeom prst="rect">
            <a:avLst/>
          </a:prstGeom>
          <a:noFill/>
        </p:spPr>
        <p:txBody>
          <a:bodyPr wrap="none" lIns="0" tIns="0" rIns="0" bIns="0" anchor="t">
            <a:spAutoFit/>
          </a:bodyPr>
          <a:lstStyle/>
          <a:p>
            <a:pPr algn="l"/>
            <a:r>
              <a:rPr sz="3300" b="1" i="0" u="none" dirty="0">
                <a:solidFill>
                  <a:srgbClr val="4C0519"/>
                </a:solidFill>
                <a:latin typeface="Arial" panose="020B0604020202020204" pitchFamily="34" charset="0"/>
                <a:cs typeface="Arial" panose="020B0604020202020204" pitchFamily="34" charset="0"/>
              </a:rPr>
              <a:t>Generated Report</a:t>
            </a:r>
            <a:r>
              <a:rPr lang="en-US" sz="3300" b="1" i="0" u="none" dirty="0">
                <a:solidFill>
                  <a:srgbClr val="4C0519"/>
                </a:solidFill>
                <a:latin typeface="Arial" panose="020B0604020202020204" pitchFamily="34" charset="0"/>
                <a:cs typeface="Arial" panose="020B0604020202020204" pitchFamily="34" charset="0"/>
              </a:rPr>
              <a:t>s 2</a:t>
            </a:r>
            <a:r>
              <a:rPr sz="3300" b="1" i="0" u="none" dirty="0">
                <a:solidFill>
                  <a:srgbClr val="4C0519"/>
                </a:solidFill>
                <a:latin typeface="Arial" panose="020B0604020202020204" pitchFamily="34" charset="0"/>
                <a:cs typeface="Arial" panose="020B0604020202020204" pitchFamily="34" charset="0"/>
              </a:rPr>
              <a:t>: </a:t>
            </a:r>
            <a:r>
              <a:rPr lang="en-US" sz="3300" b="1" i="0" u="none" dirty="0">
                <a:solidFill>
                  <a:srgbClr val="4C0519"/>
                </a:solidFill>
                <a:latin typeface="Arial" panose="020B0604020202020204" pitchFamily="34" charset="0"/>
                <a:cs typeface="Arial" panose="020B0604020202020204" pitchFamily="34" charset="0"/>
              </a:rPr>
              <a:t>Distributor Sales</a:t>
            </a:r>
            <a:endParaRPr sz="3300" b="1" i="0" u="none" dirty="0">
              <a:solidFill>
                <a:srgbClr val="4C0519"/>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3875F8D5-3137-B42B-A2CC-BE43DB2D17AC}"/>
              </a:ext>
            </a:extLst>
          </p:cNvPr>
          <p:cNvSpPr txBox="1"/>
          <p:nvPr/>
        </p:nvSpPr>
        <p:spPr>
          <a:xfrm>
            <a:off x="6037437" y="3380132"/>
            <a:ext cx="4586113" cy="2308324"/>
          </a:xfrm>
          <a:prstGeom prst="rect">
            <a:avLst/>
          </a:prstGeom>
          <a:noFill/>
        </p:spPr>
        <p:txBody>
          <a:bodyPr wrap="square" rtlCol="0">
            <a:spAutoFit/>
          </a:bodyPr>
          <a:lstStyle/>
          <a:p>
            <a:r>
              <a:rPr lang="en-US" dirty="0"/>
              <a:t>Multi-table JOINs across distributors, orders, and products deliver immediate regional wholesale visibility. The output captures completed deliveries, including 150 cases of Valley Chardonnay for Midwest Wine &amp; Spirits, while flagging outstanding volume like 300 pending cases of Estate Merlot for Apex Beverage Distributors.</a:t>
            </a:r>
            <a:endParaRPr lang="en-US" dirty="0">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6F3F0623-43A0-144F-62DE-F228E3888A26}"/>
              </a:ext>
            </a:extLst>
          </p:cNvPr>
          <p:cNvPicPr>
            <a:picLocks noChangeAspect="1"/>
          </p:cNvPicPr>
          <p:nvPr/>
        </p:nvPicPr>
        <p:blipFill>
          <a:blip r:embed="rId3"/>
          <a:stretch>
            <a:fillRect/>
          </a:stretch>
        </p:blipFill>
        <p:spPr>
          <a:xfrm>
            <a:off x="561135" y="1107230"/>
            <a:ext cx="11037651" cy="1746392"/>
          </a:xfrm>
          <a:prstGeom prst="rect">
            <a:avLst/>
          </a:prstGeom>
        </p:spPr>
      </p:pic>
      <p:pic>
        <p:nvPicPr>
          <p:cNvPr id="30" name="Picture 29">
            <a:extLst>
              <a:ext uri="{FF2B5EF4-FFF2-40B4-BE49-F238E27FC236}">
                <a16:creationId xmlns:a16="http://schemas.microsoft.com/office/drawing/2014/main" id="{2E2962B7-6A7B-CF40-359F-67CDAC1C3503}"/>
              </a:ext>
            </a:extLst>
          </p:cNvPr>
          <p:cNvPicPr>
            <a:picLocks noChangeAspect="1"/>
          </p:cNvPicPr>
          <p:nvPr/>
        </p:nvPicPr>
        <p:blipFill>
          <a:blip r:embed="rId4"/>
          <a:stretch>
            <a:fillRect/>
          </a:stretch>
        </p:blipFill>
        <p:spPr>
          <a:xfrm>
            <a:off x="790340" y="2853622"/>
            <a:ext cx="4586113" cy="401947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4" name="TextBox 3"/>
          <p:cNvSpPr txBox="1"/>
          <p:nvPr/>
        </p:nvSpPr>
        <p:spPr>
          <a:xfrm>
            <a:off x="571500" y="571500"/>
            <a:ext cx="10555262" cy="430887"/>
          </a:xfrm>
          <a:prstGeom prst="rect">
            <a:avLst/>
          </a:prstGeom>
          <a:noFill/>
        </p:spPr>
        <p:txBody>
          <a:bodyPr wrap="none" lIns="0" tIns="0" rIns="0" bIns="0" anchor="t">
            <a:spAutoFit/>
          </a:bodyPr>
          <a:lstStyle/>
          <a:p>
            <a:pPr algn="l"/>
            <a:r>
              <a:rPr sz="2800" b="1" i="0" u="none" dirty="0">
                <a:solidFill>
                  <a:srgbClr val="4C0519"/>
                </a:solidFill>
                <a:latin typeface="Arial" panose="020B0604020202020204" pitchFamily="34" charset="0"/>
                <a:cs typeface="Arial" panose="020B0604020202020204" pitchFamily="34" charset="0"/>
              </a:rPr>
              <a:t>Generated Report</a:t>
            </a:r>
            <a:r>
              <a:rPr lang="en-US" sz="2800" b="1" i="0" u="none" dirty="0">
                <a:solidFill>
                  <a:srgbClr val="4C0519"/>
                </a:solidFill>
                <a:latin typeface="Arial" panose="020B0604020202020204" pitchFamily="34" charset="0"/>
                <a:cs typeface="Arial" panose="020B0604020202020204" pitchFamily="34" charset="0"/>
              </a:rPr>
              <a:t> 3</a:t>
            </a:r>
            <a:r>
              <a:rPr sz="2800" b="1" i="0" u="none" dirty="0">
                <a:solidFill>
                  <a:srgbClr val="4C0519"/>
                </a:solidFill>
                <a:latin typeface="Arial" panose="020B0604020202020204" pitchFamily="34" charset="0"/>
                <a:cs typeface="Arial" panose="020B0604020202020204" pitchFamily="34" charset="0"/>
              </a:rPr>
              <a:t>: </a:t>
            </a:r>
            <a:r>
              <a:rPr lang="en-US" sz="2800" b="1" i="0" u="none" dirty="0">
                <a:solidFill>
                  <a:srgbClr val="4C0519"/>
                </a:solidFill>
                <a:latin typeface="Arial" panose="020B0604020202020204" pitchFamily="34" charset="0"/>
                <a:cs typeface="Arial" panose="020B0604020202020204" pitchFamily="34" charset="0"/>
              </a:rPr>
              <a:t>Department </a:t>
            </a:r>
            <a:r>
              <a:rPr sz="2800" b="1" i="0" u="none" dirty="0">
                <a:solidFill>
                  <a:srgbClr val="4C0519"/>
                </a:solidFill>
                <a:latin typeface="Arial" panose="020B0604020202020204" pitchFamily="34" charset="0"/>
                <a:cs typeface="Arial" panose="020B0604020202020204" pitchFamily="34" charset="0"/>
              </a:rPr>
              <a:t>Quarterly Labor A</a:t>
            </a:r>
            <a:r>
              <a:rPr lang="en-US" sz="2800" b="1" i="0" u="none" dirty="0">
                <a:solidFill>
                  <a:srgbClr val="4C0519"/>
                </a:solidFill>
                <a:latin typeface="Arial" panose="020B0604020202020204" pitchFamily="34" charset="0"/>
                <a:cs typeface="Arial" panose="020B0604020202020204" pitchFamily="34" charset="0"/>
              </a:rPr>
              <a:t>ggregation</a:t>
            </a:r>
            <a:endParaRPr sz="2800" b="1" i="0" u="none" dirty="0">
              <a:solidFill>
                <a:srgbClr val="4C0519"/>
              </a:solidFill>
              <a:latin typeface="Arial" panose="020B0604020202020204" pitchFamily="34" charset="0"/>
              <a:cs typeface="Arial" panose="020B0604020202020204" pitchFamily="34" charset="0"/>
            </a:endParaRPr>
          </a:p>
        </p:txBody>
      </p:sp>
      <p:sp>
        <p:nvSpPr>
          <p:cNvPr id="5" name="TextBox 4"/>
          <p:cNvSpPr txBox="1"/>
          <p:nvPr/>
        </p:nvSpPr>
        <p:spPr>
          <a:xfrm>
            <a:off x="6389458" y="3208162"/>
            <a:ext cx="4183292" cy="2492990"/>
          </a:xfrm>
          <a:prstGeom prst="rect">
            <a:avLst/>
          </a:prstGeom>
          <a:noFill/>
        </p:spPr>
        <p:txBody>
          <a:bodyPr wrap="square" lIns="0" tIns="0" rIns="0" bIns="0" anchor="t">
            <a:spAutoFit/>
          </a:bodyPr>
          <a:lstStyle/>
          <a:p>
            <a:pPr>
              <a:lnSpc>
                <a:spcPct val="100000"/>
              </a:lnSpc>
            </a:pPr>
            <a:r>
              <a:rPr lang="en-US" dirty="0">
                <a:latin typeface="Arial" panose="020B0604020202020204" pitchFamily="34" charset="0"/>
                <a:cs typeface="Arial" panose="020B0604020202020204" pitchFamily="34" charset="0"/>
              </a:rPr>
              <a:t>Multi-table JOINs across timesheet and employee data evaluate Q3 2026 labor allocation. Calculating distinct headcount and aggregated hours demonstrates seamless 3NF aggregate operations, identifying key workload concentrations in Production (95.00 </a:t>
            </a:r>
            <a:r>
              <a:rPr lang="en-US" dirty="0" err="1">
                <a:latin typeface="Arial" panose="020B0604020202020204" pitchFamily="34" charset="0"/>
                <a:cs typeface="Arial" panose="020B0604020202020204" pitchFamily="34" charset="0"/>
              </a:rPr>
              <a:t>hrs</a:t>
            </a:r>
            <a:r>
              <a:rPr lang="en-US" dirty="0">
                <a:latin typeface="Arial" panose="020B0604020202020204" pitchFamily="34" charset="0"/>
                <a:cs typeface="Arial" panose="020B0604020202020204" pitchFamily="34" charset="0"/>
              </a:rPr>
              <a:t>) and Distribution (84.00 </a:t>
            </a:r>
            <a:r>
              <a:rPr lang="en-US" dirty="0" err="1">
                <a:latin typeface="Arial" panose="020B0604020202020204" pitchFamily="34" charset="0"/>
                <a:cs typeface="Arial" panose="020B0604020202020204" pitchFamily="34" charset="0"/>
              </a:rPr>
              <a:t>hrs</a:t>
            </a:r>
            <a:r>
              <a:rPr lang="en-US" dirty="0">
                <a:latin typeface="Arial" panose="020B0604020202020204" pitchFamily="34" charset="0"/>
                <a:cs typeface="Arial" panose="020B0604020202020204" pitchFamily="34" charset="0"/>
              </a:rPr>
              <a:t>) compared to Executive (82.50 </a:t>
            </a:r>
            <a:r>
              <a:rPr lang="en-US" dirty="0" err="1">
                <a:latin typeface="Arial" panose="020B0604020202020204" pitchFamily="34" charset="0"/>
                <a:cs typeface="Arial" panose="020B0604020202020204" pitchFamily="34" charset="0"/>
              </a:rPr>
              <a:t>hrs</a:t>
            </a:r>
            <a:r>
              <a:rPr lang="en-US" dirty="0">
                <a:latin typeface="Arial" panose="020B0604020202020204" pitchFamily="34" charset="0"/>
                <a:cs typeface="Arial" panose="020B0604020202020204" pitchFamily="34" charset="0"/>
              </a:rPr>
              <a:t>) and Sales (38.00 </a:t>
            </a:r>
            <a:r>
              <a:rPr lang="en-US" dirty="0" err="1">
                <a:latin typeface="Arial" panose="020B0604020202020204" pitchFamily="34" charset="0"/>
                <a:cs typeface="Arial" panose="020B0604020202020204" pitchFamily="34" charset="0"/>
              </a:rPr>
              <a:t>hrs</a:t>
            </a:r>
            <a:r>
              <a:rPr lang="en-US" dirty="0">
                <a:latin typeface="Arial" panose="020B0604020202020204" pitchFamily="34" charset="0"/>
                <a:cs typeface="Arial" panose="020B0604020202020204" pitchFamily="34" charset="0"/>
              </a:rPr>
              <a:t>).</a:t>
            </a:r>
            <a:endParaRPr b="0" u="none" dirty="0">
              <a:solidFill>
                <a:srgbClr val="44403C"/>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14100214-7A20-7F8A-856A-842A84A7F609}"/>
              </a:ext>
            </a:extLst>
          </p:cNvPr>
          <p:cNvPicPr>
            <a:picLocks noChangeAspect="1"/>
          </p:cNvPicPr>
          <p:nvPr/>
        </p:nvPicPr>
        <p:blipFill>
          <a:blip r:embed="rId4"/>
          <a:stretch>
            <a:fillRect/>
          </a:stretch>
        </p:blipFill>
        <p:spPr>
          <a:xfrm>
            <a:off x="1143000" y="1144904"/>
            <a:ext cx="9051766" cy="1920741"/>
          </a:xfrm>
          <a:prstGeom prst="rect">
            <a:avLst/>
          </a:prstGeom>
        </p:spPr>
      </p:pic>
      <p:pic>
        <p:nvPicPr>
          <p:cNvPr id="9" name="Picture 8">
            <a:extLst>
              <a:ext uri="{FF2B5EF4-FFF2-40B4-BE49-F238E27FC236}">
                <a16:creationId xmlns:a16="http://schemas.microsoft.com/office/drawing/2014/main" id="{A243A7AA-0193-3B67-7B9F-297FA8860797}"/>
              </a:ext>
            </a:extLst>
          </p:cNvPr>
          <p:cNvPicPr>
            <a:picLocks noChangeAspect="1"/>
          </p:cNvPicPr>
          <p:nvPr/>
        </p:nvPicPr>
        <p:blipFill>
          <a:blip r:embed="rId5"/>
          <a:stretch>
            <a:fillRect/>
          </a:stretch>
        </p:blipFill>
        <p:spPr>
          <a:xfrm>
            <a:off x="133349" y="3147294"/>
            <a:ext cx="6122760" cy="33424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a:extLst>
            <a:ext uri="{FF2B5EF4-FFF2-40B4-BE49-F238E27FC236}">
              <a16:creationId xmlns:a16="http://schemas.microsoft.com/office/drawing/2014/main" id="{D4AF0B56-4234-96C7-F4DA-1667E989D493}"/>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C05FC65E-7C5B-990C-B3FF-532906714363}"/>
              </a:ext>
            </a:extLst>
          </p:cNvPr>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F1CEBC2B-C9EE-D17F-386A-4E07083A980B}"/>
              </a:ext>
            </a:extLst>
          </p:cNvPr>
          <p:cNvSpPr txBox="1"/>
          <p:nvPr/>
        </p:nvSpPr>
        <p:spPr>
          <a:xfrm>
            <a:off x="571500" y="571500"/>
            <a:ext cx="10167271" cy="430887"/>
          </a:xfrm>
          <a:prstGeom prst="rect">
            <a:avLst/>
          </a:prstGeom>
          <a:noFill/>
        </p:spPr>
        <p:txBody>
          <a:bodyPr wrap="none" lIns="0" tIns="0" rIns="0" bIns="0" anchor="t">
            <a:spAutoFit/>
          </a:bodyPr>
          <a:lstStyle/>
          <a:p>
            <a:pPr algn="l"/>
            <a:r>
              <a:rPr sz="2800" b="1" i="0" u="none" dirty="0">
                <a:solidFill>
                  <a:srgbClr val="4C0519"/>
                </a:solidFill>
                <a:latin typeface="Arial" panose="020B0604020202020204" pitchFamily="34" charset="0"/>
                <a:cs typeface="Arial" panose="020B0604020202020204" pitchFamily="34" charset="0"/>
              </a:rPr>
              <a:t>Generated Report</a:t>
            </a:r>
            <a:r>
              <a:rPr lang="en-US" sz="2800" b="1" i="0" u="none" dirty="0">
                <a:solidFill>
                  <a:srgbClr val="4C0519"/>
                </a:solidFill>
                <a:latin typeface="Arial" panose="020B0604020202020204" pitchFamily="34" charset="0"/>
                <a:cs typeface="Arial" panose="020B0604020202020204" pitchFamily="34" charset="0"/>
              </a:rPr>
              <a:t> 4</a:t>
            </a:r>
            <a:r>
              <a:rPr sz="2800" b="1" i="0" u="none" dirty="0">
                <a:solidFill>
                  <a:srgbClr val="4C0519"/>
                </a:solidFill>
                <a:latin typeface="Arial" panose="020B0604020202020204" pitchFamily="34" charset="0"/>
                <a:cs typeface="Arial" panose="020B0604020202020204" pitchFamily="34" charset="0"/>
              </a:rPr>
              <a:t>: </a:t>
            </a:r>
            <a:r>
              <a:rPr lang="en-US" sz="2800" b="1" i="0" u="none" dirty="0">
                <a:solidFill>
                  <a:srgbClr val="4C0519"/>
                </a:solidFill>
                <a:latin typeface="Arial" panose="020B0604020202020204" pitchFamily="34" charset="0"/>
                <a:cs typeface="Arial" panose="020B0604020202020204" pitchFamily="34" charset="0"/>
              </a:rPr>
              <a:t>Pending-Order &amp; Supply Delay Tracker</a:t>
            </a:r>
            <a:endParaRPr sz="2800" b="1" i="0" u="none" dirty="0">
              <a:solidFill>
                <a:srgbClr val="4C0519"/>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364A5728-2C5F-E038-E8E9-C34C75A7EC7B}"/>
              </a:ext>
            </a:extLst>
          </p:cNvPr>
          <p:cNvSpPr txBox="1"/>
          <p:nvPr/>
        </p:nvSpPr>
        <p:spPr>
          <a:xfrm>
            <a:off x="1570117" y="3774104"/>
            <a:ext cx="9051766" cy="1661993"/>
          </a:xfrm>
          <a:prstGeom prst="rect">
            <a:avLst/>
          </a:prstGeom>
          <a:noFill/>
        </p:spPr>
        <p:txBody>
          <a:bodyPr wrap="square" lIns="0" tIns="0" rIns="0" bIns="0" anchor="t">
            <a:spAutoFit/>
          </a:bodyPr>
          <a:lstStyle/>
          <a:p>
            <a:pPr>
              <a:lnSpc>
                <a:spcPct val="100000"/>
              </a:lnSpc>
            </a:pPr>
            <a:r>
              <a:rPr lang="en-US" dirty="0">
                <a:latin typeface="Arial" panose="020B0604020202020204" pitchFamily="34" charset="0"/>
                <a:cs typeface="Arial" panose="020B0604020202020204" pitchFamily="34" charset="0"/>
              </a:rPr>
              <a:t>This report monitors outstanding supplier fulfillments by tracking active purchase orders where the actual delivery date remains unrecorded. By isolating pending shipments, such as Order #105 for 750ml Wine Bottles from Glass &amp; Bottle Inc., the report provides real-time visibility into incoming supply chains. This enables production managers to anticipate potential raw material shortages, hold vendors accountable to expected delivery dates, and prevent operational delays on the bottling floor.</a:t>
            </a:r>
            <a:endParaRPr lang="en-US" b="0" u="none" dirty="0">
              <a:solidFill>
                <a:srgbClr val="44403C"/>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57F7F4C8-383F-CCB6-3423-5231460F381F}"/>
              </a:ext>
            </a:extLst>
          </p:cNvPr>
          <p:cNvPicPr>
            <a:picLocks noChangeAspect="1"/>
          </p:cNvPicPr>
          <p:nvPr/>
        </p:nvPicPr>
        <p:blipFill>
          <a:blip r:embed="rId4"/>
          <a:stretch>
            <a:fillRect/>
          </a:stretch>
        </p:blipFill>
        <p:spPr>
          <a:xfrm>
            <a:off x="571500" y="1530587"/>
            <a:ext cx="10507681" cy="1553309"/>
          </a:xfrm>
          <a:prstGeom prst="rect">
            <a:avLst/>
          </a:prstGeom>
        </p:spPr>
      </p:pic>
    </p:spTree>
    <p:extLst>
      <p:ext uri="{BB962C8B-B14F-4D97-AF65-F5344CB8AC3E}">
        <p14:creationId xmlns:p14="http://schemas.microsoft.com/office/powerpoint/2010/main" val="1218008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1333500" y="2238375"/>
            <a:ext cx="314325" cy="257175"/>
          </a:xfrm>
          <a:prstGeom prst="rect">
            <a:avLst/>
          </a:prstGeom>
        </p:spPr>
      </p:pic>
      <p:pic>
        <p:nvPicPr>
          <p:cNvPr id="4" name="Picture 3" descr="image.png"/>
          <p:cNvPicPr>
            <a:picLocks noChangeAspect="1"/>
          </p:cNvPicPr>
          <p:nvPr/>
        </p:nvPicPr>
        <p:blipFill>
          <a:blip r:embed="rId5"/>
          <a:stretch>
            <a:fillRect/>
          </a:stretch>
        </p:blipFill>
        <p:spPr>
          <a:xfrm>
            <a:off x="1333500" y="3086100"/>
            <a:ext cx="276225" cy="257175"/>
          </a:xfrm>
          <a:prstGeom prst="rect">
            <a:avLst/>
          </a:prstGeom>
        </p:spPr>
      </p:pic>
      <p:pic>
        <p:nvPicPr>
          <p:cNvPr id="5" name="Picture 4" descr="image.png"/>
          <p:cNvPicPr>
            <a:picLocks noChangeAspect="1"/>
          </p:cNvPicPr>
          <p:nvPr/>
        </p:nvPicPr>
        <p:blipFill>
          <a:blip r:embed="rId6"/>
          <a:stretch>
            <a:fillRect/>
          </a:stretch>
        </p:blipFill>
        <p:spPr>
          <a:xfrm>
            <a:off x="1333500" y="3933825"/>
            <a:ext cx="247650" cy="257175"/>
          </a:xfrm>
          <a:prstGeom prst="rect">
            <a:avLst/>
          </a:prstGeom>
        </p:spPr>
      </p:pic>
      <p:pic>
        <p:nvPicPr>
          <p:cNvPr id="6" name="Picture 5" descr="image.png"/>
          <p:cNvPicPr>
            <a:picLocks noChangeAspect="1"/>
          </p:cNvPicPr>
          <p:nvPr/>
        </p:nvPicPr>
        <p:blipFill>
          <a:blip r:embed="rId7"/>
          <a:stretch>
            <a:fillRect/>
          </a:stretch>
        </p:blipFill>
        <p:spPr>
          <a:xfrm>
            <a:off x="1333500" y="4781550"/>
            <a:ext cx="219075" cy="257175"/>
          </a:xfrm>
          <a:prstGeom prst="rect">
            <a:avLst/>
          </a:prstGeom>
        </p:spPr>
      </p:pic>
      <p:sp>
        <p:nvSpPr>
          <p:cNvPr id="7" name="TextBox 6"/>
          <p:cNvSpPr txBox="1"/>
          <p:nvPr/>
        </p:nvSpPr>
        <p:spPr>
          <a:xfrm>
            <a:off x="571500" y="571500"/>
            <a:ext cx="7848302" cy="507831"/>
          </a:xfrm>
          <a:prstGeom prst="rect">
            <a:avLst/>
          </a:prstGeom>
          <a:noFill/>
        </p:spPr>
        <p:txBody>
          <a:bodyPr wrap="none" lIns="0" tIns="0" rIns="0" bIns="0" anchor="t">
            <a:spAutoFit/>
          </a:bodyPr>
          <a:lstStyle/>
          <a:p>
            <a:pPr algn="l"/>
            <a:r>
              <a:rPr sz="3300" b="1" i="0" u="none">
                <a:solidFill>
                  <a:srgbClr val="4C0519"/>
                </a:solidFill>
                <a:latin typeface="Arial" panose="020B0604020202020204" pitchFamily="34" charset="0"/>
                <a:cs typeface="Arial" panose="020B0604020202020204" pitchFamily="34" charset="0"/>
              </a:rPr>
              <a:t>How Our Solution Resolves The Issues</a:t>
            </a:r>
          </a:p>
        </p:txBody>
      </p:sp>
      <p:sp>
        <p:nvSpPr>
          <p:cNvPr id="8" name="TextBox 7"/>
          <p:cNvSpPr txBox="1"/>
          <p:nvPr/>
        </p:nvSpPr>
        <p:spPr>
          <a:xfrm>
            <a:off x="1809750" y="2205037"/>
            <a:ext cx="9144000" cy="693010"/>
          </a:xfrm>
          <a:prstGeom prst="rect">
            <a:avLst/>
          </a:prstGeom>
          <a:noFill/>
        </p:spPr>
        <p:txBody>
          <a:bodyPr wrap="square" lIns="0" tIns="0" rIns="0" bIns="0" anchor="t">
            <a:spAutoFit/>
          </a:bodyPr>
          <a:lstStyle/>
          <a:p>
            <a:pPr algn="l">
              <a:lnSpc>
                <a:spcPct val="150000"/>
              </a:lnSpc>
            </a:pPr>
            <a:r>
              <a:rPr lang="en-US" sz="1600" b="1" i="0" u="none" dirty="0">
                <a:solidFill>
                  <a:srgbClr val="4C0519"/>
                </a:solidFill>
                <a:latin typeface="Arial" panose="020B0604020202020204" pitchFamily="34" charset="0"/>
                <a:cs typeface="Arial" panose="020B0604020202020204" pitchFamily="34" charset="0"/>
              </a:rPr>
              <a:t>Supply Chain Connectivity:</a:t>
            </a:r>
            <a:r>
              <a:rPr lang="en-US" sz="1600" b="0" i="0" u="none" dirty="0">
                <a:solidFill>
                  <a:srgbClr val="44403C"/>
                </a:solidFill>
                <a:latin typeface="Arial" panose="020B0604020202020204" pitchFamily="34" charset="0"/>
                <a:cs typeface="Arial" panose="020B0604020202020204" pitchFamily="34" charset="0"/>
              </a:rPr>
              <a:t> The relational schema natively links raw material intakes to final case shipments, providing end-to-end traceability that previously didn't exist.</a:t>
            </a:r>
          </a:p>
        </p:txBody>
      </p:sp>
      <p:sp>
        <p:nvSpPr>
          <p:cNvPr id="9" name="TextBox 8"/>
          <p:cNvSpPr txBox="1"/>
          <p:nvPr/>
        </p:nvSpPr>
        <p:spPr>
          <a:xfrm>
            <a:off x="1809750" y="3052762"/>
            <a:ext cx="9144000" cy="739177"/>
          </a:xfrm>
          <a:prstGeom prst="rect">
            <a:avLst/>
          </a:prstGeom>
          <a:noFill/>
        </p:spPr>
        <p:txBody>
          <a:bodyPr wrap="square" lIns="0" tIns="0" rIns="0" bIns="0" anchor="t">
            <a:spAutoFit/>
          </a:bodyPr>
          <a:lstStyle/>
          <a:p>
            <a:pPr>
              <a:lnSpc>
                <a:spcPct val="150000"/>
              </a:lnSpc>
            </a:pPr>
            <a:r>
              <a:rPr sz="1500" b="1" i="0" u="none" dirty="0">
                <a:solidFill>
                  <a:srgbClr val="4C0519"/>
                </a:solidFill>
                <a:latin typeface="Arial" panose="020B0604020202020204" pitchFamily="34" charset="0"/>
                <a:cs typeface="Arial" panose="020B0604020202020204" pitchFamily="34" charset="0"/>
              </a:rPr>
              <a:t>Transparent Sales Volume:</a:t>
            </a:r>
            <a:r>
              <a:rPr sz="1500" b="0" i="0" u="none" dirty="0">
                <a:solidFill>
                  <a:srgbClr val="44403C"/>
                </a:solidFill>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Automated </a:t>
            </a:r>
            <a:r>
              <a:rPr lang="en-US" dirty="0">
                <a:latin typeface="Arial" panose="020B0604020202020204" pitchFamily="34" charset="0"/>
                <a:cs typeface="Arial" panose="020B0604020202020204" pitchFamily="34" charset="0"/>
              </a:rPr>
              <a:t>JOIN</a:t>
            </a:r>
            <a:r>
              <a:rPr lang="en-US" sz="1600" dirty="0">
                <a:latin typeface="Arial" panose="020B0604020202020204" pitchFamily="34" charset="0"/>
                <a:cs typeface="Arial" panose="020B0604020202020204" pitchFamily="34" charset="0"/>
              </a:rPr>
              <a:t> queries now instantly calculate total shipment volume and order status per distributor, eliminating manual spreadsheet errors. </a:t>
            </a:r>
            <a:endParaRPr sz="1500" b="0" i="0" u="none" dirty="0">
              <a:solidFill>
                <a:srgbClr val="44403C"/>
              </a:solidFill>
              <a:latin typeface="Arial" panose="020B0604020202020204" pitchFamily="34" charset="0"/>
              <a:cs typeface="Arial" panose="020B0604020202020204" pitchFamily="34" charset="0"/>
            </a:endParaRPr>
          </a:p>
        </p:txBody>
      </p:sp>
      <p:sp>
        <p:nvSpPr>
          <p:cNvPr id="10" name="TextBox 9"/>
          <p:cNvSpPr txBox="1"/>
          <p:nvPr/>
        </p:nvSpPr>
        <p:spPr>
          <a:xfrm>
            <a:off x="1809750" y="3900487"/>
            <a:ext cx="9467850" cy="693010"/>
          </a:xfrm>
          <a:prstGeom prst="rect">
            <a:avLst/>
          </a:prstGeom>
          <a:noFill/>
        </p:spPr>
        <p:txBody>
          <a:bodyPr wrap="square" lIns="0" tIns="0" rIns="0" bIns="0" anchor="t">
            <a:spAutoFit/>
          </a:bodyPr>
          <a:lstStyle/>
          <a:p>
            <a:pPr>
              <a:lnSpc>
                <a:spcPct val="150000"/>
              </a:lnSpc>
            </a:pPr>
            <a:r>
              <a:rPr sz="1500" b="1" i="0" u="none" dirty="0">
                <a:solidFill>
                  <a:srgbClr val="4C0519"/>
                </a:solidFill>
                <a:latin typeface="Arial" panose="020B0604020202020204" pitchFamily="34" charset="0"/>
                <a:cs typeface="Arial" panose="020B0604020202020204" pitchFamily="34" charset="0"/>
              </a:rPr>
              <a:t>Consistent Labor Auditing:</a:t>
            </a:r>
            <a:r>
              <a:rPr sz="1500" b="0" i="0" u="none" dirty="0">
                <a:solidFill>
                  <a:srgbClr val="44403C"/>
                </a:solidFill>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Centralized timesheet records group total and average hours by department and quarter, allowing management to track seasonal labor distribution across fiscal periods.</a:t>
            </a:r>
            <a:endParaRPr sz="1500" b="0" i="0" u="none" dirty="0">
              <a:solidFill>
                <a:srgbClr val="44403C"/>
              </a:solidFill>
              <a:latin typeface="Arial" panose="020B0604020202020204" pitchFamily="34" charset="0"/>
              <a:cs typeface="Arial" panose="020B0604020202020204" pitchFamily="34" charset="0"/>
            </a:endParaRPr>
          </a:p>
        </p:txBody>
      </p:sp>
      <p:sp>
        <p:nvSpPr>
          <p:cNvPr id="11" name="TextBox 10"/>
          <p:cNvSpPr txBox="1"/>
          <p:nvPr/>
        </p:nvSpPr>
        <p:spPr>
          <a:xfrm>
            <a:off x="1809750" y="4748212"/>
            <a:ext cx="9144000" cy="693010"/>
          </a:xfrm>
          <a:prstGeom prst="rect">
            <a:avLst/>
          </a:prstGeom>
          <a:noFill/>
        </p:spPr>
        <p:txBody>
          <a:bodyPr wrap="square" lIns="0" tIns="0" rIns="0" bIns="0" anchor="t">
            <a:spAutoFit/>
          </a:bodyPr>
          <a:lstStyle/>
          <a:p>
            <a:pPr>
              <a:lnSpc>
                <a:spcPct val="150000"/>
              </a:lnSpc>
            </a:pPr>
            <a:r>
              <a:rPr sz="1500" b="1" i="0" u="none" dirty="0">
                <a:solidFill>
                  <a:srgbClr val="4C0519"/>
                </a:solidFill>
                <a:latin typeface="Arial" panose="020B0604020202020204" pitchFamily="34" charset="0"/>
                <a:cs typeface="Arial" panose="020B0604020202020204" pitchFamily="34" charset="0"/>
              </a:rPr>
              <a:t>Centralized Truth:</a:t>
            </a:r>
            <a:r>
              <a:rPr sz="1500" b="0" i="0" u="none" dirty="0">
                <a:solidFill>
                  <a:srgbClr val="44403C"/>
                </a:solidFill>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Bacchus Winery now operates from a single, unified database instance, preventing departmental data silos. </a:t>
            </a:r>
            <a:endParaRPr sz="1500" b="0" i="0" u="none" dirty="0">
              <a:solidFill>
                <a:srgbClr val="44403C"/>
              </a:solidFill>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5524500" y="1688008"/>
            <a:ext cx="1143000" cy="57150"/>
          </a:xfrm>
          <a:prstGeom prst="rect">
            <a:avLst/>
          </a:prstGeom>
          <a:solidFill>
            <a:srgbClr val="4C05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4" name="TextBox 3"/>
          <p:cNvSpPr txBox="1"/>
          <p:nvPr/>
        </p:nvSpPr>
        <p:spPr>
          <a:xfrm>
            <a:off x="4607610" y="2126158"/>
            <a:ext cx="2976777" cy="738664"/>
          </a:xfrm>
          <a:prstGeom prst="rect">
            <a:avLst/>
          </a:prstGeom>
          <a:noFill/>
        </p:spPr>
        <p:txBody>
          <a:bodyPr wrap="none" lIns="0" tIns="0" rIns="0" bIns="0" anchor="t">
            <a:spAutoFit/>
          </a:bodyPr>
          <a:lstStyle/>
          <a:p>
            <a:pPr algn="ctr"/>
            <a:r>
              <a:rPr sz="4800" b="1" i="0" u="none" dirty="0">
                <a:solidFill>
                  <a:srgbClr val="4C0519"/>
                </a:solidFill>
                <a:latin typeface="Arial" panose="020B0604020202020204" pitchFamily="34" charset="0"/>
                <a:cs typeface="Arial" panose="020B0604020202020204" pitchFamily="34" charset="0"/>
              </a:rPr>
              <a:t>Summary </a:t>
            </a:r>
          </a:p>
        </p:txBody>
      </p:sp>
      <p:sp>
        <p:nvSpPr>
          <p:cNvPr id="5" name="TextBox 4"/>
          <p:cNvSpPr txBox="1"/>
          <p:nvPr/>
        </p:nvSpPr>
        <p:spPr>
          <a:xfrm>
            <a:off x="1401739" y="3173908"/>
            <a:ext cx="9525000" cy="3077766"/>
          </a:xfrm>
          <a:prstGeom prst="rect">
            <a:avLst/>
          </a:prstGeom>
          <a:noFill/>
        </p:spPr>
        <p:txBody>
          <a:bodyPr wrap="square" lIns="0" tIns="0" rIns="0" bIns="0" anchor="t">
            <a:spAutoFit/>
          </a:bodyPr>
          <a:lstStyle/>
          <a:p>
            <a:pPr marL="342900" lvl="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Unified Data Architecture:</a:t>
            </a:r>
            <a:r>
              <a:rPr lang="en-US" sz="2000" dirty="0">
                <a:latin typeface="Arial" panose="020B0604020202020204" pitchFamily="34" charset="0"/>
                <a:cs typeface="Arial" panose="020B0604020202020204" pitchFamily="34" charset="0"/>
              </a:rPr>
              <a:t> Replaced fragmented spreadsheets with a single, secure MySQL instance covering Procurement, Production, Labor, and Distribution.</a:t>
            </a:r>
          </a:p>
          <a:p>
            <a:pPr marL="342900" lvl="0" indent="-342900">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Automated Business Intelligence:</a:t>
            </a:r>
            <a:r>
              <a:rPr lang="en-US" sz="2000" dirty="0">
                <a:latin typeface="Arial" panose="020B0604020202020204" pitchFamily="34" charset="0"/>
                <a:cs typeface="Arial" panose="020B0604020202020204" pitchFamily="34" charset="0"/>
              </a:rPr>
              <a:t> Engineered a Python reporting CLI that dynamically generates real-time management tracking for supplier delays, distributor volume, and quarterly labor distribution.</a:t>
            </a:r>
          </a:p>
          <a:p>
            <a:pPr marL="342900" lvl="0" indent="-342900">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Operational Impact:</a:t>
            </a:r>
            <a:r>
              <a:rPr lang="en-US" sz="2000" dirty="0">
                <a:latin typeface="Arial" panose="020B0604020202020204" pitchFamily="34" charset="0"/>
                <a:cs typeface="Arial" panose="020B0604020202020204" pitchFamily="34" charset="0"/>
              </a:rPr>
              <a:t> Restored end-to-end supply chain visibility, preventing bottling line delays and empowering data-driven executive decision-making.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3980838" y="2235547"/>
            <a:ext cx="4230324" cy="923330"/>
          </a:xfrm>
          <a:prstGeom prst="rect">
            <a:avLst/>
          </a:prstGeom>
          <a:noFill/>
        </p:spPr>
        <p:txBody>
          <a:bodyPr wrap="none" lIns="0" tIns="0" rIns="0" bIns="0" anchor="t">
            <a:spAutoFit/>
          </a:bodyPr>
          <a:lstStyle/>
          <a:p>
            <a:pPr algn="ctr"/>
            <a:r>
              <a:rPr sz="6000" b="1" i="0" u="none">
                <a:solidFill>
                  <a:srgbClr val="4C0519"/>
                </a:solidFill>
                <a:latin typeface="Arial" panose="020B0604020202020204" pitchFamily="34" charset="0"/>
                <a:cs typeface="Arial" panose="020B0604020202020204" pitchFamily="34" charset="0"/>
              </a:rPr>
              <a:t>Questions?</a:t>
            </a:r>
          </a:p>
        </p:txBody>
      </p:sp>
      <p:sp>
        <p:nvSpPr>
          <p:cNvPr id="4" name="TextBox 3"/>
          <p:cNvSpPr txBox="1"/>
          <p:nvPr/>
        </p:nvSpPr>
        <p:spPr>
          <a:xfrm>
            <a:off x="3989654" y="3492847"/>
            <a:ext cx="4212692" cy="355034"/>
          </a:xfrm>
          <a:prstGeom prst="rect">
            <a:avLst/>
          </a:prstGeom>
          <a:noFill/>
        </p:spPr>
        <p:txBody>
          <a:bodyPr wrap="none" lIns="0" tIns="0" rIns="0" bIns="0" anchor="t">
            <a:spAutoFit/>
          </a:bodyPr>
          <a:lstStyle/>
          <a:p>
            <a:pPr algn="ctr">
              <a:lnSpc>
                <a:spcPts val="3120"/>
              </a:lnSpc>
            </a:pPr>
            <a:r>
              <a:rPr sz="1950" b="0" i="0" u="none" dirty="0">
                <a:solidFill>
                  <a:srgbClr val="44403C"/>
                </a:solidFill>
                <a:latin typeface="Arial" panose="020B0604020202020204" pitchFamily="34" charset="0"/>
                <a:cs typeface="Arial" panose="020B0604020202020204" pitchFamily="34" charset="0"/>
              </a:rPr>
              <a:t>Thank you for your time and attention.</a:t>
            </a:r>
          </a:p>
        </p:txBody>
      </p:sp>
      <p:sp>
        <p:nvSpPr>
          <p:cNvPr id="5" name="TextBox 4"/>
          <p:cNvSpPr txBox="1"/>
          <p:nvPr/>
        </p:nvSpPr>
        <p:spPr>
          <a:xfrm>
            <a:off x="4076184" y="4365277"/>
            <a:ext cx="4039632" cy="253916"/>
          </a:xfrm>
          <a:prstGeom prst="rect">
            <a:avLst/>
          </a:prstGeom>
          <a:noFill/>
        </p:spPr>
        <p:txBody>
          <a:bodyPr wrap="none" lIns="0" tIns="0" rIns="0" bIns="0" anchor="t">
            <a:spAutoFit/>
          </a:bodyPr>
          <a:lstStyle/>
          <a:p>
            <a:pPr algn="ctr"/>
            <a:r>
              <a:rPr sz="1650" b="1" i="0" u="none" dirty="0">
                <a:solidFill>
                  <a:srgbClr val="1E3A8A"/>
                </a:solidFill>
                <a:latin typeface="Arial" panose="020B0604020202020204" pitchFamily="34" charset="0"/>
                <a:cs typeface="Arial" panose="020B0604020202020204" pitchFamily="34" charset="0"/>
              </a:rPr>
              <a:t>Group C | Bacchus Winery Project Team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571500" y="2922389"/>
            <a:ext cx="11049000" cy="9828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4" name="Rectangle 3"/>
          <p:cNvSpPr/>
          <p:nvPr/>
        </p:nvSpPr>
        <p:spPr>
          <a:xfrm>
            <a:off x="571500" y="3895725"/>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5" name="Rectangle 4"/>
          <p:cNvSpPr/>
          <p:nvPr/>
        </p:nvSpPr>
        <p:spPr>
          <a:xfrm>
            <a:off x="571500" y="3895725"/>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pic>
        <p:nvPicPr>
          <p:cNvPr id="6" name="Picture 5" descr="image.png"/>
          <p:cNvPicPr>
            <a:picLocks noChangeAspect="1"/>
          </p:cNvPicPr>
          <p:nvPr/>
        </p:nvPicPr>
        <p:blipFill>
          <a:blip r:embed="rId4"/>
          <a:stretch>
            <a:fillRect/>
          </a:stretch>
        </p:blipFill>
        <p:spPr>
          <a:xfrm>
            <a:off x="571500" y="3170932"/>
            <a:ext cx="857250" cy="476250"/>
          </a:xfrm>
          <a:prstGeom prst="rect">
            <a:avLst/>
          </a:prstGeom>
        </p:spPr>
      </p:pic>
      <p:pic>
        <p:nvPicPr>
          <p:cNvPr id="7" name="Picture 6" descr="image.png"/>
          <p:cNvPicPr>
            <a:picLocks noChangeAspect="1"/>
          </p:cNvPicPr>
          <p:nvPr/>
        </p:nvPicPr>
        <p:blipFill>
          <a:blip r:embed="rId5"/>
          <a:stretch>
            <a:fillRect/>
          </a:stretch>
        </p:blipFill>
        <p:spPr>
          <a:xfrm>
            <a:off x="571500" y="4153792"/>
            <a:ext cx="857250" cy="476250"/>
          </a:xfrm>
          <a:prstGeom prst="rect">
            <a:avLst/>
          </a:prstGeom>
        </p:spPr>
      </p:pic>
      <p:sp>
        <p:nvSpPr>
          <p:cNvPr id="8" name="TextBox 7"/>
          <p:cNvSpPr txBox="1"/>
          <p:nvPr/>
        </p:nvSpPr>
        <p:spPr>
          <a:xfrm>
            <a:off x="571500" y="571500"/>
            <a:ext cx="3010440" cy="507831"/>
          </a:xfrm>
          <a:prstGeom prst="rect">
            <a:avLst/>
          </a:prstGeom>
          <a:noFill/>
        </p:spPr>
        <p:txBody>
          <a:bodyPr wrap="none" lIns="0" tIns="0" rIns="0" bIns="0" anchor="t">
            <a:spAutoFit/>
          </a:bodyPr>
          <a:lstStyle/>
          <a:p>
            <a:pPr algn="l"/>
            <a:r>
              <a:rPr sz="3300" b="1" i="0" u="none">
                <a:solidFill>
                  <a:srgbClr val="4C0519"/>
                </a:solidFill>
                <a:latin typeface="Arial" panose="020B0604020202020204" pitchFamily="34" charset="0"/>
                <a:cs typeface="Arial" panose="020B0604020202020204" pitchFamily="34" charset="0"/>
              </a:rPr>
              <a:t>Image Sources</a:t>
            </a:r>
          </a:p>
        </p:txBody>
      </p:sp>
      <p:sp>
        <p:nvSpPr>
          <p:cNvPr id="9" name="TextBox 8"/>
          <p:cNvSpPr txBox="1"/>
          <p:nvPr/>
        </p:nvSpPr>
        <p:spPr>
          <a:xfrm>
            <a:off x="1666875" y="3065264"/>
            <a:ext cx="10048875" cy="182358"/>
          </a:xfrm>
          <a:prstGeom prst="rect">
            <a:avLst/>
          </a:prstGeom>
          <a:noFill/>
        </p:spPr>
        <p:txBody>
          <a:bodyPr wrap="square" lIns="0" tIns="0" rIns="0" bIns="0" anchor="t">
            <a:spAutoFit/>
          </a:bodyPr>
          <a:lstStyle/>
          <a:p>
            <a:pPr algn="l">
              <a:lnSpc>
                <a:spcPts val="1560"/>
              </a:lnSpc>
            </a:pPr>
            <a:r>
              <a:rPr sz="975" b="0" i="0" u="none">
                <a:solidFill>
                  <a:srgbClr val="44403C"/>
                </a:solidFill>
                <a:latin typeface="Arial" panose="020B0604020202020204" pitchFamily="34" charset="0"/>
                <a:cs typeface="Arial" panose="020B0604020202020204" pitchFamily="34" charset="0"/>
              </a:rPr>
              <a:t>https://www.tourismvictoria.com/_next/image?url=https%3A%2F%2Fadmin.tourismvictoria.com%2Fcontent%2Fuploads%2F2018%2F03%2FBlue-Grouse-Winery.gif&amp;w=1920&amp;q=75</a:t>
            </a:r>
          </a:p>
        </p:txBody>
      </p:sp>
      <p:sp>
        <p:nvSpPr>
          <p:cNvPr id="10" name="TextBox 9"/>
          <p:cNvSpPr txBox="1"/>
          <p:nvPr/>
        </p:nvSpPr>
        <p:spPr>
          <a:xfrm>
            <a:off x="1666875" y="3509069"/>
            <a:ext cx="2261388" cy="217817"/>
          </a:xfrm>
          <a:prstGeom prst="rect">
            <a:avLst/>
          </a:prstGeom>
          <a:noFill/>
        </p:spPr>
        <p:txBody>
          <a:bodyPr wrap="none" lIns="0" tIns="0" rIns="0" bIns="0" anchor="t">
            <a:spAutoFit/>
          </a:bodyPr>
          <a:lstStyle/>
          <a:p>
            <a:pPr algn="l">
              <a:lnSpc>
                <a:spcPts val="1920"/>
              </a:lnSpc>
            </a:pPr>
            <a:r>
              <a:rPr sz="1200" b="0" i="0" u="none">
                <a:solidFill>
                  <a:srgbClr val="44403C"/>
                </a:solidFill>
                <a:latin typeface="Arial" panose="020B0604020202020204" pitchFamily="34" charset="0"/>
                <a:cs typeface="Arial" panose="020B0604020202020204" pitchFamily="34" charset="0"/>
              </a:rPr>
              <a:t>Source: </a:t>
            </a:r>
            <a:r>
              <a:rPr sz="1200" b="0" i="0" u="none">
                <a:solidFill>
                  <a:srgbClr val="4F46E5"/>
                </a:solidFill>
                <a:latin typeface="Arial" panose="020B0604020202020204" pitchFamily="34" charset="0"/>
                <a:cs typeface="Arial" panose="020B0604020202020204" pitchFamily="34" charset="0"/>
              </a:rPr>
              <a:t>www.tourismvictoria.com</a:t>
            </a:r>
          </a:p>
        </p:txBody>
      </p:sp>
      <p:sp>
        <p:nvSpPr>
          <p:cNvPr id="11" name="TextBox 10"/>
          <p:cNvSpPr txBox="1"/>
          <p:nvPr/>
        </p:nvSpPr>
        <p:spPr>
          <a:xfrm>
            <a:off x="1666875" y="4048125"/>
            <a:ext cx="10048875" cy="396180"/>
          </a:xfrm>
          <a:prstGeom prst="rect">
            <a:avLst/>
          </a:prstGeom>
          <a:noFill/>
        </p:spPr>
        <p:txBody>
          <a:bodyPr wrap="square" lIns="0" tIns="0" rIns="0" bIns="0" anchor="t">
            <a:spAutoFit/>
          </a:bodyPr>
          <a:lstStyle/>
          <a:p>
            <a:pPr algn="l">
              <a:lnSpc>
                <a:spcPts val="1560"/>
              </a:lnSpc>
            </a:pPr>
            <a:r>
              <a:rPr sz="975" b="0" i="0" u="none">
                <a:solidFill>
                  <a:srgbClr val="44403C"/>
                </a:solidFill>
                <a:latin typeface="Arial" panose="020B0604020202020204" pitchFamily="34" charset="0"/>
                <a:cs typeface="Arial" panose="020B0604020202020204" pitchFamily="34" charset="0"/>
              </a:rPr>
              <a:t>https://media.istockphoto.com/id/2245833272/photo/digital-database-schema-showing-finance-and-accounting-data-structure-representing-financial.jpg?s=612x612&amp;w=0&amp;k=20&amp;c=reK5QoEjKes-mD2ybzeRN6InFnV4CRQjqXaTxxuaxKI=</a:t>
            </a:r>
          </a:p>
        </p:txBody>
      </p:sp>
      <p:sp>
        <p:nvSpPr>
          <p:cNvPr id="12" name="TextBox 11"/>
          <p:cNvSpPr txBox="1"/>
          <p:nvPr/>
        </p:nvSpPr>
        <p:spPr>
          <a:xfrm>
            <a:off x="1666875" y="4491930"/>
            <a:ext cx="2048189" cy="217817"/>
          </a:xfrm>
          <a:prstGeom prst="rect">
            <a:avLst/>
          </a:prstGeom>
          <a:noFill/>
        </p:spPr>
        <p:txBody>
          <a:bodyPr wrap="none" lIns="0" tIns="0" rIns="0" bIns="0" anchor="t">
            <a:spAutoFit/>
          </a:bodyPr>
          <a:lstStyle/>
          <a:p>
            <a:pPr algn="l">
              <a:lnSpc>
                <a:spcPts val="1920"/>
              </a:lnSpc>
            </a:pPr>
            <a:r>
              <a:rPr sz="1200" b="0" i="0" u="none">
                <a:solidFill>
                  <a:srgbClr val="44403C"/>
                </a:solidFill>
                <a:latin typeface="Arial" panose="020B0604020202020204" pitchFamily="34" charset="0"/>
                <a:cs typeface="Arial" panose="020B0604020202020204" pitchFamily="34" charset="0"/>
              </a:rPr>
              <a:t>Source: </a:t>
            </a:r>
            <a:r>
              <a:rPr sz="1200" b="0" i="0" u="none">
                <a:solidFill>
                  <a:srgbClr val="4F46E5"/>
                </a:solidFill>
                <a:latin typeface="Arial" panose="020B0604020202020204" pitchFamily="34" charset="0"/>
                <a:cs typeface="Arial" panose="020B0604020202020204" pitchFamily="34" charset="0"/>
              </a:rPr>
              <a:t>www.istockphoto.com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230</TotalTime>
  <Words>2567</Words>
  <Application>Microsoft Office PowerPoint</Application>
  <PresentationFormat>Widescreen</PresentationFormat>
  <Paragraphs>95</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Aptos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Nick Zankl</dc:creator>
  <cp:keywords/>
  <cp:lastModifiedBy>Nick Zankl</cp:lastModifiedBy>
  <cp:revision>88</cp:revision>
  <dcterms:created xsi:type="dcterms:W3CDTF">2013-01-27T09:14:16Z</dcterms:created>
  <dcterms:modified xsi:type="dcterms:W3CDTF">2026-10-11T04:43:42Z</dcterms:modified>
  <cp:category/>
</cp:coreProperties>
</file>